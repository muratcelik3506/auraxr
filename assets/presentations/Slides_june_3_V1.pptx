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4" r:id="rId2"/>
    <p:sldId id="295" r:id="rId3"/>
    <p:sldId id="286" r:id="rId4"/>
    <p:sldId id="287" r:id="rId5"/>
    <p:sldId id="288" r:id="rId6"/>
    <p:sldId id="289" r:id="rId7"/>
    <p:sldId id="290" r:id="rId8"/>
    <p:sldId id="285" r:id="rId9"/>
    <p:sldId id="291" r:id="rId10"/>
    <p:sldId id="292" r:id="rId11"/>
    <p:sldId id="293" r:id="rId12"/>
    <p:sldId id="294" r:id="rId13"/>
    <p:sldId id="296" r:id="rId14"/>
    <p:sldId id="300" r:id="rId15"/>
    <p:sldId id="301" r:id="rId16"/>
    <p:sldId id="302" r:id="rId17"/>
    <p:sldId id="297" r:id="rId18"/>
    <p:sldId id="298" r:id="rId19"/>
    <p:sldId id="272" r:id="rId20"/>
    <p:sldId id="299" r:id="rId21"/>
    <p:sldId id="303" r:id="rId22"/>
    <p:sldId id="271" r:id="rId23"/>
    <p:sldId id="265" r:id="rId24"/>
    <p:sldId id="266" r:id="rId25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7C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673"/>
  </p:normalViewPr>
  <p:slideViewPr>
    <p:cSldViewPr snapToGrid="0">
      <p:cViewPr varScale="1">
        <p:scale>
          <a:sx n="123" d="100"/>
          <a:sy n="123" d="100"/>
        </p:scale>
        <p:origin x="22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CA8D-1FAE-8DD7-B6B4-D3B42B4F2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666A8-141B-2FDE-3C05-21589AF4E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25D04-DE96-18F9-4ED6-3005B101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14A72-809A-3342-D8B0-BB70F6B4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F77B-DC56-D75D-0B9B-FB973B4A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559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ED7E-9E10-302F-F335-A07764E3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0DF8-24AE-D4B6-3B5A-F54D07A17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979F1-788D-550B-E4C5-D5484C89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EE0F8-3344-7567-DAC7-EE84E6DF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8243B-8348-AB04-6AC9-3BB70F08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61060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F49A-9861-9958-C3A4-BDBC20E0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4311D-B200-75CE-B76E-6796AF46A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C6C18-072A-356F-B906-8F876625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7469A-5AEA-FDDA-37DF-F8C408D9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57543-4926-89F1-7B57-629525BA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5478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FF1B-FC4E-47F8-EE04-6065CF95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9127E-27E8-387B-BAFD-FCD8FC970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DDA29-2F00-F69F-B1F2-EB46491D8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6E916-3B1C-D448-E3B6-1D86359A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D4D1C-0A33-9F42-7611-33940969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45067-2CC6-58F1-B1AA-F7EC50DA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9628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A2F5-4AC6-D192-8336-DB86F1EF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F73C8-9985-A007-DA69-DF1F598AE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441AE-88AA-217A-23A5-78E8AA7A0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0FD60-446D-499F-2EFE-EA97E830E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72619-8A76-6138-8CCF-78AF4DEF1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D25A5-1275-6C52-4170-80DD6975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EA750-D0F0-3367-4C42-7B17697C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DEF16-5FE5-1814-126E-1BC54C2B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03097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2901F-AFAF-10E1-9D04-DB4292EF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21E1A-7200-1D2C-42CC-A337BE7F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0A9B6-88EE-7995-095B-581B0CEC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F870E-56F9-6EC5-8D8A-1FA1DD9B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780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2E7D4-CDF0-8996-9666-8BCA9BAD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6852E-926F-F67E-8BD2-8E65247B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92EFD-BFCA-818B-47D3-24CD7165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9330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DCEA-580B-33BC-77A7-3857DC8CC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28A9F-DB6D-0179-501A-7677D13E2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D45F5-347B-492E-3B24-4F0467110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9F0E2-9547-92F8-DA9C-CB13FD93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92D85-18DF-6F25-A0B1-608359DB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69535-322E-23AA-4D3E-B94DD268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076125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A090-1A94-4244-6242-C09FA1FCF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6CBF3-5E24-CEAC-A4CC-C3AB14CDE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33087-609D-3AC4-90C2-87179D82C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EC227-7304-FBF9-5CD9-6C024FC6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BDD96-570C-84C3-D378-2B107AB5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A2B16-1FF0-4A24-93D5-A5D6E127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191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A0D2-DF34-5B57-67A9-44F3D0E11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A24B0-28E0-D1AA-556E-CED23EA99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4D37C-8BE7-0575-E262-D38B4F9F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59A68-BA1A-C50D-8F9D-AC43502F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D1196-9B76-ED2B-9900-AFB3AB04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8369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973655-C748-A363-C090-C3D8E6D89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3F5AB-9291-1EE3-1567-44B46751A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2BABB-93E5-0D3B-630D-6EE8CAD2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E3ACF-07ED-76C9-28F8-9851BFC6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0EA1-B493-55E7-D62E-74667E575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3985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6A3E8-7533-4651-8E04-F6885D60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14625-B86B-EEDD-3920-3C12151A4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BBD41-4A1A-8290-A030-0A112E0EA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EBB34-A8F5-4042-990D-3B7A4BA2407D}" type="datetimeFigureOut">
              <a:rPr lang="en-TR" smtClean="0"/>
              <a:t>3.06.2026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996C7-946F-E50E-B03D-506193063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3401B-0B20-B26F-5B95-647278307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885BD-0B7D-9848-A158-F066968450B7}" type="slidenum">
              <a:rPr lang="en-TR" smtClean="0"/>
              <a:t>‹#›</a:t>
            </a:fld>
            <a:endParaRPr lang="en-TR"/>
          </a:p>
        </p:txBody>
      </p:sp>
      <p:sp>
        <p:nvSpPr>
          <p:cNvPr id="100" name="Accent Line"/>
          <p:cNvSpPr/>
          <p:nvPr userDrawn="1"/>
        </p:nvSpPr>
        <p:spPr>
          <a:xfrm>
            <a:off x="762000" y="6515100"/>
            <a:ext cx="1016000" cy="254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0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A1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1A1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1A1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DA99-45ED-5B3E-1E95-2D3ACDDA0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7200" b="1" dirty="0">
                <a:solidFill>
                  <a:srgbClr val="1A1A1A"/>
                </a:solidFill>
              </a:rPr>
              <a:t>AuraXR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41E80-ACF3-1501-FFC9-9F8D46E1C6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2000" dirty="0">
                <a:solidFill>
                  <a:srgbClr val="0E7C7B"/>
                </a:solidFill>
              </a:rPr>
              <a:t>Proximity-Based Hand Animation for VR</a:t>
            </a:r>
          </a:p>
        </p:txBody>
      </p:sp>
      <p:sp>
        <p:nvSpPr>
          <p:cNvPr id="500" name="Title Accent"/>
          <p:cNvSpPr/>
          <p:nvPr/>
        </p:nvSpPr>
        <p:spPr>
          <a:xfrm>
            <a:off x="1066800" y="2286000"/>
            <a:ext cx="76200" cy="1524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1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21CA-7760-4303-9168-5CB10246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4E58C-2CBF-CDA3-C512-AB97F49FE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000"/>
            <a:ext cx="4826000" cy="4318000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E7C7B"/>
                </a:solidFill>
              </a:rPr>
              <a:t>The Problem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In VR, the system only tracks controllers, not fingers. Virtual hands look stiff or fake when grabbing objects.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E7C7B"/>
                </a:solidFill>
              </a:rPr>
              <a:t>The Goal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The virtual hand should automatically reshape </a:t>
            </a:r>
            <a:r>
              <a:rPr lang="en-US" sz="1500" i="1" dirty="0">
                <a:solidFill>
                  <a:srgbClr val="1A1A1A"/>
                </a:solidFill>
              </a:rPr>
              <a:t>before</a:t>
            </a:r>
            <a:r>
              <a:rPr lang="en-US" sz="1500" dirty="0">
                <a:solidFill>
                  <a:srgbClr val="1A1A1A"/>
                </a:solidFill>
              </a:rPr>
              <a:t> contact, like a real hand preparing to grab.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1B49F-B6E0-1550-F644-1B18E4F6F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346" y="2801257"/>
            <a:ext cx="6767965" cy="3691618"/>
          </a:xfrm>
          <a:prstGeom prst="rect">
            <a:avLst/>
          </a:prstGeom>
        </p:spPr>
      </p:pic>
      <p:sp>
        <p:nvSpPr>
          <p:cNvPr id="4" name="TitleHairline">
            <a:extLst>
              <a:ext uri="{FF2B5EF4-FFF2-40B4-BE49-F238E27FC236}">
                <a16:creationId xmlns:a16="http://schemas.microsoft.com/office/drawing/2014/main" id="{A9E7A0D7-3BA0-DC45-A570-D490B3CDB55A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631407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3C290-61AA-43DD-A77F-FE5C2109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- 1. </a:t>
            </a:r>
            <a:r>
              <a:rPr lang="en-TR" sz="3200" b="1" dirty="0">
                <a:solidFill>
                  <a:srgbClr val="0E7C7B"/>
                </a:solidFill>
              </a:rPr>
              <a:t>Data Preparation &amp; Processing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FF94C-3712-AC43-4CD7-940B4E637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A1A1A"/>
                </a:solidFill>
              </a:rPr>
              <a:t>HOT3D Dataset Download &amp; Parsing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Extract and parse hand and object position data from HOT3D library (1.5M+ frames from Quest 3 + Aria) from ZIP formats into JSON/CSV structures.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A1A1A"/>
                </a:solidFill>
              </a:rPr>
              <a:t>Frame Filtering (Distance &amp; Validity)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Filter invalid hand annotations and frames beyond 40cm distance to retain only meaningful hand-object interaction data for training.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A1A1A"/>
                </a:solidFill>
              </a:rPr>
              <a:t>Wrist Frame Transformation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Transform object position from world coordinate system to hand wrist reference frame to compute relative position (3D).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A1A1A"/>
                </a:solidFill>
              </a:rPr>
              <a:t>Feature Extraction &amp; One-Hot Encoding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Combine hand rotation (quaternion), object relative position, grip category (Power/Precision/Palmar/Pinch), and bounding box dimensions to construct 11-dimensional input vector.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A1A1A"/>
                </a:solidFill>
              </a:rPr>
              <a:t>Train/Val Split &amp; Normalization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Perform 70/15 participant-based split and normalize all features using only training set statistics (mean/std).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A1A1A"/>
                </a:solidFill>
              </a:rPr>
              <a:t>HDF5 Dataset Serialization (Left &amp; Right)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Serialize processed train/val data into HDF5 format on disk to enable fast data loading for both left and right hands.</a:t>
            </a:r>
          </a:p>
        </p:txBody>
      </p:sp>
      <p:sp>
        <p:nvSpPr>
          <p:cNvPr id="7" name="TitleHairline">
            <a:extLst>
              <a:ext uri="{FF2B5EF4-FFF2-40B4-BE49-F238E27FC236}">
                <a16:creationId xmlns:a16="http://schemas.microsoft.com/office/drawing/2014/main" id="{B584B1BA-474E-B84F-9538-91496FC266EE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05131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6B0E5-86B5-8DDB-8E24-1EAF1752F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9527-597A-277E-018A-67937339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- 2</a:t>
            </a:r>
            <a:r>
              <a:rPr lang="en-TR" sz="3200" b="1" dirty="0">
                <a:solidFill>
                  <a:srgbClr val="0E7C7B"/>
                </a:solidFill>
              </a:rPr>
              <a:t>. Model Design &amp; Improvements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492A0-A733-6997-F07E-651F41B53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V1 Baseline Model (Control Group)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Implement dual-branch architecture with spatial encoder (rel_pos + distance) and object encoder (grip_onehot + bbox) to predict 22 joint angles (~54k params).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V2 Model Development (Wrist Quaternion + Per-Finger Heads)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Augment spatial input with wrist quaternion to encode hand rotation and add 5 separate per-finger decoder heads (~210k params).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V5 &amp; V6 Model Variants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Test different hidden dimensions, embedding sizes, dropout rates, and layer normalization positions to determine optimal architecture.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Loss Function Design (Weighted MAE)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Apply 6x weight to grip frames and 2x weight to approach frames to strengthen learning on rare and critical pose predictions.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Optimizer &amp; Learning Rate Schedule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Use Adam optimizer with 1e-3 initial learning rate, 20-epoch linear warmup, and cosine decay schedule.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12C318E3-91C2-B045-88D7-951333078BEE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5853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83A0B-55E2-4BB8-9946-167594E7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BF10-10B7-36F7-80C4-0FB31A3F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- 3. </a:t>
            </a:r>
            <a:r>
              <a:rPr lang="en-TR" sz="3200" b="1" dirty="0">
                <a:solidFill>
                  <a:srgbClr val="0E7C7B"/>
                </a:solidFill>
              </a:rPr>
              <a:t>Training &amp; Validation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535FB-1377-D81B-3B3C-1F19A3A6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1A1A1A"/>
                </a:solidFill>
              </a:rPr>
              <a:t>Model Training (500 Epochs)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Load entire dataset onto GPU and train model using batch training (~3 min on M2 Max).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1A1A1A"/>
                </a:solidFill>
              </a:rPr>
              <a:t>Real-Time Monitoring &amp; Early Stopping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Monitor training loss, validation loss, and per-phase MAE to prevent overfitting.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1A1A1A"/>
                </a:solidFill>
              </a:rPr>
              <a:t>Checkpoint Management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Save best model (lowest val loss) and training metadata (normalization stats, model parameters).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06A8A014-7386-8048-8B14-C2A7AF6F14A9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9216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3F3A5-9437-E0BB-6643-3591AE8A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7F570-02AD-0734-D45D-F297B40D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- 4. </a:t>
            </a:r>
            <a:r>
              <a:rPr lang="en-TR" sz="3200" b="1" dirty="0">
                <a:solidFill>
                  <a:srgbClr val="0E7C7B"/>
                </a:solidFill>
              </a:rPr>
              <a:t>Model Evaluation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572D7-F6FC-CD57-B980-88806FF5F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Per-Joint MAE Calculation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Measure mean absolute error (in degrees) for each of 22 joints on validation set to identify poorly performing joints.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Per-Phase Analysis (Pre-Shape vs Grip)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Separately evaluate 10-40cm pre-shape frames and &lt;10cm grip frames to visualize phase-specific performance.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Per-Grip-Category Breakdown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Report separate MAE for all 4 grip categories (Power cup, Precision pen, Palmar plate, Pinch mouse).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Left &amp; Right Hand Model Independent Evaluation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Compare performance of left and right hand models separately to detect asymmetric learning issues.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Error Distribution Analysis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Visualize how prediction error varies with distance and object size to understand model weaknesses.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9B4740D5-712C-5F4D-8983-C82C3E905EA0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19620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46AC8-02B6-18E3-11D9-0F7446D5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F158-B83B-5638-EDB8-0A70D991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- 5. </a:t>
            </a:r>
            <a:r>
              <a:rPr lang="en-TR" sz="3200" b="1" dirty="0">
                <a:solidFill>
                  <a:srgbClr val="0E7C7B"/>
                </a:solidFill>
              </a:rPr>
              <a:t>Export &amp; Optimization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C8F29-2C5A-7E2B-6393-E1F508A84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1A1A1A"/>
                </a:solidFill>
              </a:rPr>
              <a:t>ONNX Conversion (PyTorch → ONNX)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Convert trained model to ONNX format to enable cross-platform compatibility.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1A1A1A"/>
                </a:solidFill>
              </a:rPr>
              <a:t>ONNX Inference Validation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Run ONNX model with ONNX Runtime and verify bitwise matching with PyTorch outputs.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1A1A1A"/>
                </a:solidFill>
              </a:rPr>
              <a:t>Quantization &amp; Model Compression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Convert Float32 → Int8 or Float16 to reduce model size by 4x and improve Quest 3 inference speed.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8CF02834-5596-BC4C-864A-BC3BB5A16A81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84938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8FDD-BDBC-8773-985E-564851EC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6AA4-B17D-E981-CDF9-727C703E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- 6. </a:t>
            </a:r>
            <a:r>
              <a:rPr lang="en-US" sz="3200" b="1" dirty="0">
                <a:solidFill>
                  <a:srgbClr val="0E7C7B"/>
                </a:solidFill>
              </a:rPr>
              <a:t>Unity Integration &amp; C# Wrapper (Not Enough)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A5DB9-F3F0-8F43-C543-284EE7350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A1A1A"/>
                </a:solidFill>
              </a:rPr>
              <a:t>ONNX Runtime C# Binding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Initialize model inference in Unity via ONNX Runtime C# API.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A1A1A"/>
                </a:solidFill>
              </a:rPr>
              <a:t>AuraXRMetaLoader (Model Metadata Loading)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Load normalization statistics and model metadata from JSON to apply feature preprocessing correctly.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A1A1A"/>
                </a:solidFill>
              </a:rPr>
              <a:t>AuraXRFeatureAssembler (Input Feature Construction)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Compute wrist frame transformation, relative object position, and grip category from controller position to construct model input.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A1A1A"/>
                </a:solidFill>
              </a:rPr>
              <a:t>AuraXRInferenceManager (Real-Time Inference Loop)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Run inference every frame with features as input to obtain 22 joint angles and update hand animation.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8F159E14-726F-AD4E-A58D-87324FB678B6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7216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A8CB6-F350-E043-9B6C-ED9CFD7C2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6ED6-66AB-6300-8DA8-7091A620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- 7. </a:t>
            </a:r>
            <a:r>
              <a:rPr lang="en-TR" sz="3200" b="1" dirty="0">
                <a:solidFill>
                  <a:srgbClr val="0E7C7B"/>
                </a:solidFill>
              </a:rPr>
              <a:t>Hand Rendering &amp; Animation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28A1B-3496-FB45-C838-DC527058B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1A1A1A"/>
                </a:solidFill>
              </a:rPr>
              <a:t>HandSkeletonAnchor &amp; HandRigController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4A4A4A"/>
                </a:solidFill>
              </a:rPr>
              <a:t>Transform 22 joint angles into 3D hand mesh positions using forward kinematics (IK/FK) to animate smooth hand rig.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1A1A1A"/>
                </a:solidFill>
              </a:rPr>
              <a:t>Visibility &amp; Proximity Management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4A4A4A"/>
                </a:solidFill>
              </a:rPr>
              <a:t>Control hand visibility based on controller-object distance and manage occlusion.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0021D2D5-ECAB-B143-BE70-82D936C19610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004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2D8EA-F6D3-8AFE-0BF9-3931820A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ED2D-B9FD-CCC5-B3A0-E2EDAFF1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- 8. </a:t>
            </a:r>
            <a:r>
              <a:rPr lang="en-TR" sz="3200" b="1" dirty="0">
                <a:solidFill>
                  <a:srgbClr val="0E7C7B"/>
                </a:solidFill>
              </a:rPr>
              <a:t>Quest 3 Runtime Optimization (Current Phase)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A8D55-0C22-6CB9-C24E-4973D56FF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1A1A1A"/>
                </a:solidFill>
              </a:rPr>
              <a:t>Streaming Inference (Throttling)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4A4A4A"/>
                </a:solidFill>
              </a:rPr>
              <a:t>Run inference at intervals rather than every frame and interpolate intermediate frames.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1A1A1A"/>
                </a:solidFill>
              </a:rPr>
              <a:t>Device-Specific Profiling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4A4A4A"/>
                </a:solidFill>
              </a:rPr>
              <a:t>Measure inference latency and power consumption on Quest 3 Qualcomm Snapdragon processor.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6D34447F-1A28-5B4A-A2A3-4441C04F74D1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6742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941A-AFE7-EC16-9B43-D7A9262E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5B98-2239-4E87-190E-470F0BD3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- 9. </a:t>
            </a:r>
            <a:r>
              <a:rPr lang="en-TR" sz="3200" b="1" dirty="0">
                <a:solidFill>
                  <a:srgbClr val="0E7C7B"/>
                </a:solidFill>
              </a:rPr>
              <a:t>Experiments &amp; Results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37F6A-FF6F-2EDF-4379-8814A8162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Left vs Right Hand Comparison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Report performance differences between two models and analyze asymmetry.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Object Size Impact (Object Size Scaling)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Examine how model error varies between small (pinch grip) and large (power grip) objects.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Distance-Dependent Performance (Distance Bins)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Report MAE across 5cm intervals (0-5cm, 5-10cm, ..., 35-40cm) to identify best-performing distance ranges.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Grip Transition Smoothness Test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Evaluate pose prediction smoothness during pre-shape → grip phase transition both visually and quantitatively.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User Study Subjective Feedback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A4A4A"/>
                </a:solidFill>
              </a:rPr>
              <a:t>Collect feedback from VR users on immersion, naturalness, and accuracy and report survey results.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BDCB4443-E93A-FF49-8130-1EA82FAC1B38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87557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582E-E82E-1622-766A-744EF876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C58B-A033-5418-DFB0-E916A870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Flow - 10. </a:t>
            </a:r>
            <a:r>
              <a:rPr lang="en-TR" sz="3200" b="1" dirty="0">
                <a:solidFill>
                  <a:srgbClr val="0E7C7B"/>
                </a:solidFill>
              </a:rPr>
              <a:t>Paper Writing Sections</a:t>
            </a:r>
            <a:endParaRPr lang="en-TR" sz="3200" b="1" dirty="0">
              <a:solidFill>
                <a:srgbClr val="0E7C7B"/>
              </a:solidFill>
              <a:latin typeface="Inter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1FF891-6FF9-4F07-5F44-09226D779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Abstract &amp; Introduction (Problem Definition)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Present VR hand animation gap as motivation and introduce proximity-based prediction approach.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Related Work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Summarize MANO, UmeTrack, HOT3D, previous hand pose estimation, and grasp prediction research.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Dataset Analysis &amp; Preprocessing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Explain HOT3D library characteristics, filtering strategies, and feature engineering details.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Model Architecture &amp; Ablations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Document design choices in detail: V1 baseline, V2 improvements, per-finger heads, quaternion encoding.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Experiments &amp; Results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Present training curves, validation/test performance tables, and per-phase/per-grip breakdowns.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Ablation Studies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Measure individual contributions of components: wrist quaternion, per-finger heads, loss weighting.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Error Analysis &amp; Failure Cases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Identify worst-performing joints, grip categories, and distance ranges.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Runtime Performance &amp; Deployment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Present ONNX export, quantization, and Quest 3 latency/power metrics.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Qualitative Results &amp; Visualization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Include video recordings of hand pose predictions, 3D mesh visualizations, and comparison slides.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Discussion &amp; Future Work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Discuss significance of findings, limitations, and future improvements (multi-object, dynamic scenes, etc.).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Conclusion &amp; Impact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</a:rPr>
              <a:t>Summarize how AuraXR contributes to VR/AR immersion.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CBA224D9-F99F-E34D-B94B-0E6A719A5B4D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4402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795E-5D4C-DE56-FCAB-368CB5AF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8DC5C8-8C37-C17D-B21B-BAFCF6F109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0027"/>
            <a:ext cx="10340010" cy="1762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spcAft>
                <a:spcPts val="900"/>
              </a:spcAft>
              <a:buNone/>
            </a:pPr>
            <a:r>
              <a:rPr lang="en-US" sz="2400" b="1" i="1" dirty="0">
                <a:solidFill>
                  <a:srgbClr val="0E7C7B"/>
                </a:solidFill>
              </a:rPr>
              <a:t>A real hand does not wait until it touches an object, it starts shaping in the air.</a:t>
            </a:r>
          </a:p>
          <a:p>
            <a:pPr marL="0" indent="0" algn="just">
              <a:spcAft>
                <a:spcPts val="700"/>
              </a:spcAft>
              <a:buNone/>
            </a:pPr>
            <a:r>
              <a:rPr lang="en-US" sz="1800" dirty="0">
                <a:solidFill>
                  <a:srgbClr val="1A1A1A"/>
                </a:solidFill>
              </a:rPr>
              <a:t>Reaching for a cup, your fingers spread and curl </a:t>
            </a:r>
            <a:r>
              <a:rPr lang="en-US" sz="1800" b="1" dirty="0">
                <a:solidFill>
                  <a:srgbClr val="1A1A1A"/>
                </a:solidFill>
              </a:rPr>
              <a:t>before</a:t>
            </a:r>
            <a:r>
              <a:rPr lang="en-US" sz="1800" dirty="0">
                <a:solidFill>
                  <a:srgbClr val="1A1A1A"/>
                </a:solidFill>
              </a:rPr>
              <a:t> contact. This is called </a:t>
            </a:r>
            <a:r>
              <a:rPr lang="en-US" sz="1800" b="1" dirty="0">
                <a:solidFill>
                  <a:srgbClr val="0E7C7B"/>
                </a:solidFill>
              </a:rPr>
              <a:t>anticipatory grasp</a:t>
            </a:r>
            <a:r>
              <a:rPr lang="en-US" sz="1800" dirty="0">
                <a:solidFill>
                  <a:srgbClr val="1A1A1A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1A1A1A"/>
                </a:solidFill>
              </a:rPr>
              <a:t>The shape depends on </a:t>
            </a:r>
            <a:r>
              <a:rPr lang="en-US" sz="1800" b="1" dirty="0">
                <a:solidFill>
                  <a:srgbClr val="1A1A1A"/>
                </a:solidFill>
              </a:rPr>
              <a:t>where the object is</a:t>
            </a:r>
            <a:r>
              <a:rPr lang="en-US" sz="1800" dirty="0">
                <a:solidFill>
                  <a:srgbClr val="1A1A1A"/>
                </a:solidFill>
              </a:rPr>
              <a:t> (relative to the hand) and </a:t>
            </a:r>
            <a:r>
              <a:rPr lang="en-US" sz="1800" b="1" dirty="0">
                <a:solidFill>
                  <a:srgbClr val="1A1A1A"/>
                </a:solidFill>
              </a:rPr>
              <a:t>what kind of object</a:t>
            </a:r>
            <a:r>
              <a:rPr lang="en-US" sz="1800" dirty="0">
                <a:solidFill>
                  <a:srgbClr val="1A1A1A"/>
                </a:solidFill>
              </a:rPr>
              <a:t> it is ,</a:t>
            </a:r>
            <a:r>
              <a:rPr lang="en-US" sz="1800" i="1" dirty="0">
                <a:solidFill>
                  <a:srgbClr val="1A1A1A"/>
                </a:solidFill>
              </a:rPr>
              <a:t>not</a:t>
            </a:r>
            <a:r>
              <a:rPr lang="en-US" sz="1800" dirty="0">
                <a:solidFill>
                  <a:srgbClr val="1A1A1A"/>
                </a:solidFill>
              </a:rPr>
              <a:t> on where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1A1A1A"/>
                </a:solidFill>
              </a:rPr>
              <a:t>the hand is in the room.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335B812D-E23C-4E45-A401-3C94EBA6A3E5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4034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4371-8B89-F029-C080-0D9D3742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9D8985-AB10-F07F-E833-72A4F79F19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84327"/>
            <a:ext cx="5143500" cy="2289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0E7C7B"/>
                </a:solidFill>
              </a:rPr>
              <a:t>Simplified Model Pipeline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1. Input Dimensions (15 total) — </a:t>
            </a:r>
            <a:r>
              <a:rPr lang="en-US" sz="1400" dirty="0">
                <a:solidFill>
                  <a:srgbClr val="4A4A4A"/>
                </a:solidFill>
              </a:rPr>
              <a:t>8 Spatial (hand) + 7 Object (shape).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2. Shared Trunk — </a:t>
            </a:r>
            <a:r>
              <a:rPr lang="en-US" sz="1400" dirty="0">
                <a:solidFill>
                  <a:srgbClr val="4A4A4A"/>
                </a:solidFill>
              </a:rPr>
              <a:t>fuses both inputs into one path.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3. Specialized Decoder (5 Heads) — </a:t>
            </a:r>
            <a:r>
              <a:rPr lang="en-US" sz="1400" dirty="0">
                <a:solidFill>
                  <a:srgbClr val="4A4A4A"/>
                </a:solidFill>
              </a:rPr>
              <a:t>one head per finger; each predicts 4 joints.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4. Output Joints (22 total) — </a:t>
            </a:r>
            <a:r>
              <a:rPr lang="en-US" sz="1400" dirty="0">
                <a:solidFill>
                  <a:srgbClr val="4A4A4A"/>
                </a:solidFill>
              </a:rPr>
              <a:t>20 finger joints (5×4) + 2 placeholders.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EF2BE4-8B94-D76E-7A80-4534F37D0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185" y="2284327"/>
            <a:ext cx="5143500" cy="191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0E7C7B"/>
                </a:solidFill>
              </a:rPr>
              <a:t>Why This Design Wins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Wrist Quaternion — </a:t>
            </a:r>
            <a:r>
              <a:rPr lang="en-US" sz="1400" dirty="0">
                <a:solidFill>
                  <a:srgbClr val="4A4A4A"/>
                </a:solidFill>
              </a:rPr>
              <a:t>tracks rotation, not just position. </a:t>
            </a:r>
            <a:r>
              <a:rPr lang="en-US" sz="1400" b="1" dirty="0">
                <a:solidFill>
                  <a:srgbClr val="0E7C7B"/>
                </a:solidFill>
              </a:rPr>
              <a:t>+20% accuracy</a:t>
            </a:r>
            <a:r>
              <a:rPr lang="en-US" sz="1400" dirty="0">
                <a:solidFill>
                  <a:srgbClr val="4A4A4A"/>
                </a:solidFill>
              </a:rPr>
              <a:t>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Per-Finger Isolation — </a:t>
            </a:r>
            <a:r>
              <a:rPr lang="en-US" sz="1400" dirty="0">
                <a:solidFill>
                  <a:srgbClr val="4A4A4A"/>
                </a:solidFill>
              </a:rPr>
              <a:t>errors in one finger do not affect others.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Ultra-Lightweight — </a:t>
            </a:r>
            <a:r>
              <a:rPr lang="en-US" sz="1400" dirty="0">
                <a:solidFill>
                  <a:srgbClr val="4A4A4A"/>
                </a:solidFill>
              </a:rPr>
              <a:t>only </a:t>
            </a:r>
            <a:r>
              <a:rPr lang="en-US" sz="1400" b="1" dirty="0">
                <a:solidFill>
                  <a:srgbClr val="0E7C7B"/>
                </a:solidFill>
              </a:rPr>
              <a:t>~210k params</a:t>
            </a:r>
            <a:r>
              <a:rPr lang="en-US" sz="1400" dirty="0">
                <a:solidFill>
                  <a:srgbClr val="4A4A4A"/>
                </a:solidFill>
              </a:rPr>
              <a:t>; runs in </a:t>
            </a:r>
            <a:r>
              <a:rPr lang="en-US" sz="1400" b="1" dirty="0">
                <a:solidFill>
                  <a:srgbClr val="0E7C7B"/>
                </a:solidFill>
              </a:rPr>
              <a:t>&lt;1ms</a:t>
            </a:r>
            <a:r>
              <a:rPr lang="en-US" sz="1400" dirty="0">
                <a:solidFill>
                  <a:srgbClr val="4A4A4A"/>
                </a:solidFill>
              </a:rPr>
              <a:t> on Quest 3 GPU.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45BFAF40-0984-E248-8428-3A5DF7828750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64397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F5BA-92E2-21BB-046D-C8FF6556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2650-DAD6-F9B6-D7D4-466FF9F1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Technical Deep-Dive &amp; Training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923306-7E3D-7CE4-646F-A23B6AAF45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126861"/>
            <a:ext cx="5143500" cy="2996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E7C7B"/>
                </a:solidFill>
              </a:rPr>
              <a:t>Smart Data Balancing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A </a:t>
            </a:r>
            <a:r>
              <a:rPr lang="en-US" sz="1400" b="1" dirty="0">
                <a:solidFill>
                  <a:srgbClr val="1A1A1A"/>
                </a:solidFill>
              </a:rPr>
              <a:t>Weighted Huber Loss</a:t>
            </a:r>
            <a:r>
              <a:rPr lang="en-US" sz="1400" dirty="0">
                <a:solidFill>
                  <a:srgbClr val="1A1A1A"/>
                </a:solidFill>
              </a:rPr>
              <a:t> focuses training on critical moments.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A4A4A"/>
                </a:solidFill>
              </a:rPr>
              <a:t>GRIP FRAMES (&lt;10cm)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E7C7B"/>
                </a:solidFill>
              </a:rPr>
              <a:t>6.0× weight</a:t>
            </a:r>
            <a:r>
              <a:rPr lang="en-US" sz="1400" dirty="0">
                <a:solidFill>
                  <a:srgbClr val="4A4A4A"/>
                </a:solidFill>
              </a:rPr>
              <a:t> — only 2.2% of data but the critical touch moment.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A4A4A"/>
                </a:solidFill>
              </a:rPr>
              <a:t>APPROACH FRAMES (&gt;45cm)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E7C7B"/>
                </a:solidFill>
              </a:rPr>
              <a:t>2.0× weight</a:t>
            </a:r>
            <a:r>
              <a:rPr lang="en-US" sz="1400" dirty="0">
                <a:solidFill>
                  <a:srgbClr val="4A4A4A"/>
                </a:solidFill>
              </a:rPr>
              <a:t> — prepares finger shapes early.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A4A4A"/>
                </a:solidFill>
              </a:rPr>
              <a:t>NORMAL FRAMES (10–45cm)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</a:rPr>
              <a:t>1.0× weight</a:t>
            </a:r>
            <a:r>
              <a:rPr lang="en-US" sz="1400" dirty="0">
                <a:solidFill>
                  <a:srgbClr val="4A4A4A"/>
                </a:solidFill>
              </a:rPr>
              <a:t> — standard baseline.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162485-B95C-6A95-DE96-79282F45A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2126861"/>
            <a:ext cx="5143500" cy="3344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0E7C7B"/>
                </a:solidFill>
              </a:rPr>
              <a:t>Expected Training Metrics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A4A4A"/>
                </a:solidFill>
              </a:rPr>
              <a:t>FINGER ERROR (MAE)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2400" b="1" dirty="0">
                <a:solidFill>
                  <a:srgbClr val="0E7C7B"/>
                </a:solidFill>
              </a:rPr>
              <a:t>?</a:t>
            </a:r>
            <a:r>
              <a:rPr lang="en-US" sz="1400" dirty="0">
                <a:solidFill>
                  <a:srgbClr val="4A4A4A"/>
                </a:solidFill>
              </a:rPr>
              <a:t>   highly accurate angle match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A4A4A"/>
                </a:solidFill>
              </a:rPr>
              <a:t>GRIP DETECT (F1)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2400" b="1" dirty="0">
                <a:solidFill>
                  <a:srgbClr val="0E7C7B"/>
                </a:solidFill>
              </a:rPr>
              <a:t>?</a:t>
            </a:r>
            <a:r>
              <a:rPr lang="en-US" sz="1400" dirty="0">
                <a:solidFill>
                  <a:srgbClr val="4A4A4A"/>
                </a:solidFill>
              </a:rPr>
              <a:t>   at critical touch limits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A4A4A"/>
                </a:solidFill>
              </a:rPr>
              <a:t>TRAINING SPEED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E7C7B"/>
                </a:solidFill>
              </a:rPr>
              <a:t>500 epochs / 5 min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</a:rPr>
              <a:t>on M2 Max — ultra-fast iteration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8733DFBA-7F73-4B4B-97AC-A7EC05610249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53401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D5254-7B21-BB16-701A-CD5E0B6B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D5B9-8A73-C272-2529-9D3BD19B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Deployment &amp; Live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78151B-0B6C-8269-46F9-4E99CA0FF7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70488"/>
            <a:ext cx="3429000" cy="2481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E7C7B"/>
                </a:solidFill>
              </a:rPr>
              <a:t>Live Engine Flow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Tracking — </a:t>
            </a:r>
            <a:r>
              <a:rPr lang="en-US" sz="1400" dirty="0">
                <a:solidFill>
                  <a:srgbClr val="4A4A4A"/>
                </a:solidFill>
              </a:rPr>
              <a:t>Quest 3 tracks hand and object in real time.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Assembly — </a:t>
            </a:r>
            <a:r>
              <a:rPr lang="en-US" sz="1400" dirty="0">
                <a:solidFill>
                  <a:srgbClr val="4A4A4A"/>
                </a:solidFill>
              </a:rPr>
              <a:t>15-number input vector.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Inference — </a:t>
            </a:r>
            <a:r>
              <a:rPr lang="en-US" sz="1400" dirty="0">
                <a:solidFill>
                  <a:srgbClr val="4A4A4A"/>
                </a:solidFill>
              </a:rPr>
              <a:t>Unity Sentis runs ONNX on-device.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Update — </a:t>
            </a:r>
            <a:r>
              <a:rPr lang="en-US" sz="1400" dirty="0">
                <a:solidFill>
                  <a:srgbClr val="4A4A4A"/>
                </a:solidFill>
              </a:rPr>
              <a:t>virtual hand updates with no visible lag.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540760-080F-89E7-F652-0A8CBF20F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700" y="2084081"/>
            <a:ext cx="3429000" cy="2454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E7C7B"/>
                </a:solidFill>
              </a:rPr>
              <a:t>Dataset &amp; Roadmap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Built on </a:t>
            </a:r>
            <a:r>
              <a:rPr lang="en-US" sz="1400" b="1" dirty="0">
                <a:solidFill>
                  <a:srgbClr val="1A1A1A"/>
                </a:solidFill>
              </a:rPr>
              <a:t>HOT3D</a:t>
            </a:r>
            <a:r>
              <a:rPr lang="en-US" sz="1400" dirty="0">
                <a:solidFill>
                  <a:srgbClr val="1A1A1A"/>
                </a:solidFill>
              </a:rPr>
              <a:t> — ~200k frames, 4 grip types, 20+ household objects.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7C7B"/>
                </a:solidFill>
              </a:rPr>
              <a:t>Post-POC Goals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· Finger-by-finger confidence tracking.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· Dual-hand interactions.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</a:rPr>
              <a:t>· Super-light 110k-param option.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2BFD09-7622-D62D-97B7-729E70D53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047795"/>
            <a:ext cx="3429000" cy="2942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E7C7B"/>
                </a:solidFill>
              </a:rPr>
              <a:t>Device Performance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A4A4A"/>
                </a:solidFill>
              </a:rPr>
              <a:t>QUEST 3 GPU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7C7B"/>
                </a:solidFill>
              </a:rPr>
              <a:t>? ms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A4A4A"/>
                </a:solidFill>
              </a:rPr>
              <a:t>1000 FPS — zero lag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A4A4A"/>
                </a:solidFill>
              </a:rPr>
              <a:t>QUEST 3 CPU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rgbClr val="0E7C7B"/>
                </a:solidFill>
              </a:rPr>
              <a:t>?</a:t>
            </a:r>
            <a:r>
              <a:rPr lang="en-US" sz="2800" b="1" dirty="0">
                <a:solidFill>
                  <a:srgbClr val="0E7C7B"/>
                </a:solidFill>
              </a:rPr>
              <a:t> ms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</a:rPr>
              <a:t>200 FPS — fallback mode</a:t>
            </a:r>
          </a:p>
        </p:txBody>
      </p:sp>
      <p:sp>
        <p:nvSpPr>
          <p:cNvPr id="6" name="TitleHairline">
            <a:extLst>
              <a:ext uri="{FF2B5EF4-FFF2-40B4-BE49-F238E27FC236}">
                <a16:creationId xmlns:a16="http://schemas.microsoft.com/office/drawing/2014/main" id="{2823D424-1B83-B840-AEF2-1C09FC3313F1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24367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CB20-52CA-E553-5378-69F656209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2135FF-44B2-8DCB-6879-98B7C28B45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98375"/>
            <a:ext cx="6899646" cy="2009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A1A1A"/>
                </a:solidFill>
              </a:rPr>
              <a:t>The hand reacts based on the </a:t>
            </a:r>
            <a:r>
              <a:rPr lang="en-US" sz="1700" b="1" dirty="0">
                <a:solidFill>
                  <a:srgbClr val="0E7C7B"/>
                </a:solidFill>
              </a:rPr>
              <a:t>distance to the nearest object</a:t>
            </a:r>
            <a:r>
              <a:rPr lang="en-US" sz="1700" dirty="0">
                <a:solidFill>
                  <a:srgbClr val="1A1A1A"/>
                </a:solidFill>
              </a:rPr>
              <a:t> — four stages: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1A1A"/>
                </a:solidFill>
              </a:rPr>
              <a:t>Far (&gt; 40 cm) — </a:t>
            </a:r>
            <a:r>
              <a:rPr lang="en-US" sz="1600" dirty="0">
                <a:solidFill>
                  <a:srgbClr val="4A4A4A"/>
                </a:solidFill>
              </a:rPr>
              <a:t>model is off; hand stays in a normal resting pose.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1A1A"/>
                </a:solidFill>
              </a:rPr>
              <a:t>Getting close (10–40 cm) — </a:t>
            </a:r>
            <a:r>
              <a:rPr lang="en-US" sz="1600" dirty="0">
                <a:solidFill>
                  <a:srgbClr val="4A4A4A"/>
                </a:solidFill>
              </a:rPr>
              <a:t>hand starts to open and prepare for the object type.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1A1A"/>
                </a:solidFill>
              </a:rPr>
              <a:t>Very close (&lt; 10 cm) — </a:t>
            </a:r>
            <a:r>
              <a:rPr lang="en-US" sz="1600" dirty="0">
                <a:solidFill>
                  <a:srgbClr val="4A4A4A"/>
                </a:solidFill>
              </a:rPr>
              <a:t>hand moves into a full grip; fingers point to the object.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Touch + grip button — </a:t>
            </a:r>
            <a:r>
              <a:rPr lang="en-US" sz="1600" dirty="0">
                <a:solidFill>
                  <a:srgbClr val="4A4A4A"/>
                </a:solidFill>
              </a:rPr>
              <a:t>the pose locks and the object sticks to the hand.</a:t>
            </a:r>
          </a:p>
        </p:txBody>
      </p:sp>
      <p:sp>
        <p:nvSpPr>
          <p:cNvPr id="3" name="TitleHairline">
            <a:extLst>
              <a:ext uri="{FF2B5EF4-FFF2-40B4-BE49-F238E27FC236}">
                <a16:creationId xmlns:a16="http://schemas.microsoft.com/office/drawing/2014/main" id="{D0CC7CE7-D516-C043-BA2B-4B229431A3D2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42207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4810-D57C-7A14-13F4-C88CADA4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TR" sz="3200" b="1">
                <a:solidFill>
                  <a:srgbClr val="0E7C7B"/>
                </a:solidFill>
                <a:latin typeface="Inter"/>
              </a:rPr>
              <a:t>HOT3D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FA15B-D9DA-A016-FFED-E8169531F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5344"/>
            <a:ext cx="4826000" cy="3080658"/>
          </a:xfrm>
        </p:spPr>
        <p:txBody>
          <a:bodyPr anchor="ctr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E7C7B"/>
                </a:solidFill>
              </a:rPr>
              <a:t>What is HOT3D?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</a:rPr>
              <a:t>A large-scale dataset by Meta Reality Labs, tracking human hand interactions with 33 daily objects in 3D from a first-person perspective.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E7C7B"/>
                </a:solidFill>
              </a:rPr>
              <a:t>Why HOT3D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Realistic &amp; Compatible — </a:t>
            </a:r>
            <a:r>
              <a:rPr lang="en-US" sz="1400" dirty="0">
                <a:solidFill>
                  <a:srgbClr val="4A4A4A"/>
                </a:solidFill>
              </a:rPr>
              <a:t>captures natural everyday interactions; directly compatible with Quest 3.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Rich Content — </a:t>
            </a:r>
            <a:r>
              <a:rPr lang="en-US" sz="1400" dirty="0">
                <a:solidFill>
                  <a:srgbClr val="4A4A4A"/>
                </a:solidFill>
              </a:rPr>
              <a:t>RGB (1280×1024), depth, IMU, plus precise hand (UmeTrack) and object (6DoF) poses per frame.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F630A5-AB27-620B-4779-FC0996BE4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804064"/>
              </p:ext>
            </p:extLst>
          </p:nvPr>
        </p:nvGraphicFramePr>
        <p:xfrm>
          <a:off x="5911532" y="2175344"/>
          <a:ext cx="5150278" cy="357732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591060">
                  <a:extLst>
                    <a:ext uri="{9D8B030D-6E8A-4147-A177-3AD203B41FA5}">
                      <a16:colId xmlns:a16="http://schemas.microsoft.com/office/drawing/2014/main" val="353789205"/>
                    </a:ext>
                  </a:extLst>
                </a:gridCol>
                <a:gridCol w="3559218">
                  <a:extLst>
                    <a:ext uri="{9D8B030D-6E8A-4147-A177-3AD203B41FA5}">
                      <a16:colId xmlns:a16="http://schemas.microsoft.com/office/drawing/2014/main" val="2719870188"/>
                    </a:ext>
                  </a:extLst>
                </a:gridCol>
              </a:tblGrid>
              <a:tr h="44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Value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60699"/>
                  </a:ext>
                </a:extLst>
              </a:tr>
              <a:tr h="44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Total Frames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1.5 Million+</a:t>
                      </a: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303731"/>
                  </a:ext>
                </a:extLst>
              </a:tr>
              <a:tr h="44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Total Sequences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800+</a:t>
                      </a: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159629"/>
                  </a:ext>
                </a:extLst>
              </a:tr>
              <a:tr h="44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Unique Objects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33 (household items)</a:t>
                      </a: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858427"/>
                  </a:ext>
                </a:extLst>
              </a:tr>
              <a:tr h="44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Unique People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19</a:t>
                      </a: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254984"/>
                  </a:ext>
                </a:extLst>
              </a:tr>
              <a:tr h="44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Devices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Meta Quest 3 + Project Aria</a:t>
                      </a: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99853"/>
                  </a:ext>
                </a:extLst>
              </a:tr>
              <a:tr h="44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Viewpoint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Egocentric (first-person)</a:t>
                      </a: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939106"/>
                  </a:ext>
                </a:extLst>
              </a:tr>
              <a:tr h="44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Hand Models</a:t>
                      </a:r>
                      <a:endParaRPr lang="en-TR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UmeTrack (22 joints) + MANO (parametric)</a:t>
                      </a:r>
                    </a:p>
                  </a:txBody>
                  <a:tcPr marL="122813" marR="118089" marT="94472" marB="944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091163"/>
                  </a:ext>
                </a:extLst>
              </a:tr>
            </a:tbl>
          </a:graphicData>
        </a:graphic>
      </p:graphicFrame>
      <p:sp>
        <p:nvSpPr>
          <p:cNvPr id="5" name="TitleHairline">
            <a:extLst>
              <a:ext uri="{FF2B5EF4-FFF2-40B4-BE49-F238E27FC236}">
                <a16:creationId xmlns:a16="http://schemas.microsoft.com/office/drawing/2014/main" id="{C510E504-AAC8-E643-BBDD-37830DE9F43A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24802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BEF5-7F28-0950-2072-CC59B48A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 dirty="0">
                <a:solidFill>
                  <a:srgbClr val="0E7C7B"/>
                </a:solidFill>
                <a:latin typeface="Inter"/>
              </a:rPr>
              <a:t>What is </a:t>
            </a:r>
            <a:r>
              <a:rPr lang="en-US" sz="3200" b="1" kern="1200" dirty="0" err="1">
                <a:solidFill>
                  <a:srgbClr val="0E7C7B"/>
                </a:solidFill>
                <a:latin typeface="Inter"/>
              </a:rPr>
              <a:t>UmeTrack</a:t>
            </a:r>
            <a:r>
              <a:rPr lang="en-US" sz="3200" b="1" kern="1200" dirty="0">
                <a:solidFill>
                  <a:srgbClr val="0E7C7B"/>
                </a:solidFill>
                <a:latin typeface="Inter"/>
              </a:rPr>
              <a:t>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8CB18A-DDA6-31C0-1E6C-8066F0E9C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3265504"/>
              </p:ext>
            </p:extLst>
          </p:nvPr>
        </p:nvGraphicFramePr>
        <p:xfrm>
          <a:off x="838200" y="1825625"/>
          <a:ext cx="4590143" cy="43513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2536">
                  <a:extLst>
                    <a:ext uri="{9D8B030D-6E8A-4147-A177-3AD203B41FA5}">
                      <a16:colId xmlns:a16="http://schemas.microsoft.com/office/drawing/2014/main" val="110499163"/>
                    </a:ext>
                  </a:extLst>
                </a:gridCol>
                <a:gridCol w="1757432">
                  <a:extLst>
                    <a:ext uri="{9D8B030D-6E8A-4147-A177-3AD203B41FA5}">
                      <a16:colId xmlns:a16="http://schemas.microsoft.com/office/drawing/2014/main" val="3829722999"/>
                    </a:ext>
                  </a:extLst>
                </a:gridCol>
                <a:gridCol w="1570175">
                  <a:extLst>
                    <a:ext uri="{9D8B030D-6E8A-4147-A177-3AD203B41FA5}">
                      <a16:colId xmlns:a16="http://schemas.microsoft.com/office/drawing/2014/main" val="2596871018"/>
                    </a:ext>
                  </a:extLst>
                </a:gridCol>
              </a:tblGrid>
              <a:tr h="874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Criteria</a:t>
                      </a:r>
                      <a:endParaRPr lang="en-TR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UmeTrack</a:t>
                      </a:r>
                      <a:endParaRPr lang="en-TR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MANO</a:t>
                      </a:r>
                      <a:endParaRPr lang="en-TR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12685"/>
                  </a:ext>
                </a:extLst>
              </a:tr>
              <a:tr h="1301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Format &amp; Size</a:t>
                      </a:r>
                      <a:endParaRPr lang="en-TR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Only 22 joint angles</a:t>
                      </a: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61 parameters (Pose + Shape)</a:t>
                      </a: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97843"/>
                  </a:ext>
                </a:extLst>
              </a:tr>
              <a:tr h="874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VR Compatibility</a:t>
                      </a:r>
                      <a:endParaRPr lang="en-TR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✅ Ready for direct use</a:t>
                      </a: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❌ Requires conversion</a:t>
                      </a: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763769"/>
                  </a:ext>
                </a:extLst>
              </a:tr>
              <a:tr h="1301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Speed / Performance</a:t>
                      </a:r>
                      <a:endParaRPr lang="en-TR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✅ Extremely lightweight (&lt;2ms on Quest 3)</a:t>
                      </a: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⚠️ Computationally heavier</a:t>
                      </a:r>
                    </a:p>
                  </a:txBody>
                  <a:tcPr marL="62367" marR="111369" marT="17819" marB="133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6210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8B940B2-BF01-7022-6A43-CE3F0BE3E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TR" b="1" i="0" u="none" strike="noStrike" cap="none" normalizeH="0" baseline="0" dirty="0">
                <a:ln>
                  <a:noFill/>
                </a:ln>
                <a:solidFill>
                  <a:srgbClr val="0E7C7B"/>
                </a:solidFill>
                <a:effectLst/>
              </a:rPr>
              <a:t>Definition &amp; Structure: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TR" b="1" i="0" u="none" strike="noStrike" cap="none" normalizeH="0" baseline="0" dirty="0" err="1">
                <a:ln>
                  <a:noFill/>
                </a:ln>
                <a:effectLst/>
              </a:rPr>
              <a:t>UmeTrack</a:t>
            </a:r>
            <a:r>
              <a:rPr kumimoji="0" lang="en-US" altLang="en-TR" b="0" i="0" u="none" strike="noStrike" cap="none" normalizeH="0" baseline="0" dirty="0">
                <a:ln>
                  <a:noFill/>
                </a:ln>
                <a:effectLst/>
              </a:rPr>
              <a:t> is a data format that represents hand movements using 22 joint angles (in degrees).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TR" b="1" i="0" u="none" strike="noStrike" cap="none" normalizeH="0" baseline="0" dirty="0">
                <a:ln>
                  <a:noFill/>
                </a:ln>
                <a:effectLst/>
              </a:rPr>
              <a:t>22 Angles:</a:t>
            </a:r>
            <a:r>
              <a:rPr kumimoji="0" lang="en-US" altLang="en-TR" b="0" i="0" u="none" strike="noStrike" cap="none" normalizeH="0" baseline="0" dirty="0">
                <a:ln>
                  <a:noFill/>
                </a:ln>
                <a:effectLst/>
              </a:rPr>
              <a:t> (5 Fingers × 4 angles) + 2 angles for the wrist.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TR" b="0" i="0" u="none" strike="noStrike" cap="none" normalizeH="0" baseline="0" dirty="0">
                <a:ln>
                  <a:noFill/>
                </a:ln>
                <a:effectLst/>
              </a:rPr>
              <a:t>All angles are </a:t>
            </a:r>
            <a:r>
              <a:rPr kumimoji="0" lang="en-US" altLang="en-TR" b="1" i="0" u="none" strike="noStrike" cap="none" normalizeH="0" baseline="0" dirty="0">
                <a:ln>
                  <a:noFill/>
                </a:ln>
                <a:effectLst/>
              </a:rPr>
              <a:t>normalized to the [-1, 1] range</a:t>
            </a:r>
            <a:r>
              <a:rPr kumimoji="0" lang="en-US" altLang="en-TR" b="0" i="0" u="none" strike="noStrike" cap="none" normalizeH="0" baseline="0" dirty="0">
                <a:ln>
                  <a:noFill/>
                </a:ln>
                <a:effectLst/>
              </a:rPr>
              <a:t> for optimized model processing.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TR" b="1" i="0" u="none" strike="noStrike" cap="none" normalizeH="0" baseline="0" dirty="0">
                <a:ln>
                  <a:noFill/>
                </a:ln>
                <a:solidFill>
                  <a:srgbClr val="0E7C7B"/>
                </a:solidFill>
                <a:effectLst/>
              </a:rPr>
              <a:t>Why </a:t>
            </a:r>
            <a:r>
              <a:rPr kumimoji="0" lang="en-US" altLang="en-TR" b="1" i="0" u="none" strike="noStrike" cap="none" normalizeH="0" baseline="0" dirty="0" err="1">
                <a:ln>
                  <a:noFill/>
                </a:ln>
                <a:solidFill>
                  <a:srgbClr val="0E7C7B"/>
                </a:solidFill>
                <a:effectLst/>
              </a:rPr>
              <a:t>UmeTrack</a:t>
            </a:r>
            <a:r>
              <a:rPr kumimoji="0" lang="en-US" altLang="en-TR" b="1" i="0" u="none" strike="noStrike" cap="none" normalizeH="0" baseline="0" dirty="0">
                <a:ln>
                  <a:noFill/>
                </a:ln>
                <a:solidFill>
                  <a:srgbClr val="0E7C7B"/>
                </a:solidFill>
                <a:effectLst/>
              </a:rPr>
              <a:t> (Instead of MANO)?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TR" b="0" i="0" u="none" strike="noStrike" cap="none" normalizeH="0" baseline="0" dirty="0">
                <a:ln>
                  <a:noFill/>
                </a:ln>
                <a:effectLst/>
              </a:rPr>
              <a:t>Position and rotation data obtained from the controller is converted into 22 </a:t>
            </a:r>
            <a:r>
              <a:rPr kumimoji="0" lang="en-US" altLang="en-TR" b="0" i="0" u="none" strike="noStrike" cap="none" normalizeH="0" baseline="0" dirty="0" err="1">
                <a:ln>
                  <a:noFill/>
                </a:ln>
                <a:effectLst/>
              </a:rPr>
              <a:t>UmeTrack</a:t>
            </a:r>
            <a:r>
              <a:rPr kumimoji="0" lang="en-US" altLang="en-TR" b="0" i="0" u="none" strike="noStrike" cap="none" normalizeH="0" baseline="0" dirty="0">
                <a:ln>
                  <a:noFill/>
                </a:ln>
                <a:effectLst/>
              </a:rPr>
              <a:t> angles via the </a:t>
            </a:r>
            <a:r>
              <a:rPr kumimoji="0" lang="en-US" altLang="en-TR" b="0" i="0" u="none" strike="noStrike" cap="none" normalizeH="0" baseline="0" dirty="0" err="1">
                <a:ln>
                  <a:noFill/>
                </a:ln>
                <a:effectLst/>
              </a:rPr>
              <a:t>AuraXR</a:t>
            </a:r>
            <a:r>
              <a:rPr kumimoji="0" lang="en-US" altLang="en-TR" b="0" i="0" u="none" strike="noStrike" cap="none" normalizeH="0" baseline="0" dirty="0">
                <a:ln>
                  <a:noFill/>
                </a:ln>
                <a:effectLst/>
              </a:rPr>
              <a:t> model. These angles are applied directly to the Unity hand rig, </a:t>
            </a:r>
            <a:r>
              <a:rPr kumimoji="0" lang="en-US" altLang="en-TR" b="1" i="0" u="none" strike="noStrike" cap="none" normalizeH="0" baseline="0" dirty="0">
                <a:ln>
                  <a:noFill/>
                </a:ln>
                <a:effectLst/>
              </a:rPr>
              <a:t>eliminating the need for inverse kinematics (IK)</a:t>
            </a:r>
            <a:r>
              <a:rPr kumimoji="0" lang="en-US" altLang="en-TR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  <p:sp>
        <p:nvSpPr>
          <p:cNvPr id="6" name="TitleHairline">
            <a:extLst>
              <a:ext uri="{FF2B5EF4-FFF2-40B4-BE49-F238E27FC236}">
                <a16:creationId xmlns:a16="http://schemas.microsoft.com/office/drawing/2014/main" id="{C83E60F6-BB30-A841-9777-CB9F38F4563B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89664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F0C6-81AA-17B1-4A6E-8D271F7D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Evaluation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7F58D-73A1-AA50-7390-9336ECFD1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E7C7B"/>
                </a:solidFill>
              </a:rPr>
              <a:t>Two evaluation streams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A1A1A"/>
                </a:solidFill>
              </a:rPr>
              <a:t>Quantitative — </a:t>
            </a:r>
            <a:r>
              <a:rPr lang="en-US" sz="1800" dirty="0">
                <a:solidFill>
                  <a:srgbClr val="4A4A4A"/>
                </a:solidFill>
              </a:rPr>
              <a:t>model results (MAE, grip detection accuracy, per-phase performance).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Qualitative — </a:t>
            </a:r>
            <a:r>
              <a:rPr lang="en-US" sz="1800" dirty="0">
                <a:solidFill>
                  <a:srgbClr val="4A4A4A"/>
                </a:solidFill>
              </a:rPr>
              <a:t>user feedback on immersion, naturalness, and accuracy.</a:t>
            </a:r>
          </a:p>
          <a:p>
            <a:pPr marL="0" indent="0">
              <a:buNone/>
            </a:pPr>
            <a:endParaRPr lang="en-US" sz="1800" dirty="0">
              <a:solidFill>
                <a:srgbClr val="4A4A4A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4A4A4A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What is our plan?</a:t>
            </a:r>
          </a:p>
        </p:txBody>
      </p:sp>
      <p:sp>
        <p:nvSpPr>
          <p:cNvPr id="4" name="TitleHairline">
            <a:extLst>
              <a:ext uri="{FF2B5EF4-FFF2-40B4-BE49-F238E27FC236}">
                <a16:creationId xmlns:a16="http://schemas.microsoft.com/office/drawing/2014/main" id="{E89BD911-3309-3341-B09C-4BCC2605B269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76136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6C23-AC7D-1671-7850-5561097E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>
                <a:solidFill>
                  <a:srgbClr val="0E7C7B"/>
                </a:solidFill>
              </a:rPr>
              <a:t>Questions to be decided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E6808-1D67-157A-1960-9EA0240A6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360000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TR" sz="1400" b="1" dirty="0"/>
              <a:t>1. Grip Frame Imbalance</a:t>
            </a:r>
          </a:p>
          <a:p>
            <a:pPr marL="0" indent="0" algn="just">
              <a:buNone/>
            </a:pPr>
            <a:r>
              <a:rPr lang="en-TR" sz="1400" dirty="0"/>
              <a:t>Grip frames are only </a:t>
            </a:r>
            <a:r>
              <a:rPr lang="en-TR" sz="1400" b="1" dirty="0"/>
              <a:t>2.2% of training data</a:t>
            </a:r>
            <a:r>
              <a:rPr lang="en-TR" sz="1400" dirty="0"/>
              <a:t>. The model may be biased toward pre-shape poses and underperform at the critical touch moment. Weighted loss partially addresses this but doesn't solve the root imbalance.</a:t>
            </a:r>
          </a:p>
          <a:p>
            <a:pPr marL="0" indent="0" algn="just">
              <a:buNone/>
            </a:pPr>
            <a:r>
              <a:rPr lang="en-TR" sz="1400" b="1" dirty="0"/>
              <a:t>2. Multi-Object Ambiguity</a:t>
            </a:r>
          </a:p>
          <a:p>
            <a:pPr marL="0" indent="0" algn="just">
              <a:buNone/>
            </a:pPr>
            <a:r>
              <a:rPr lang="en-TR" sz="1400" dirty="0"/>
              <a:t>The system tracks only the </a:t>
            </a:r>
            <a:r>
              <a:rPr lang="en-TR" sz="1400" b="1" dirty="0"/>
              <a:t>nearest object</a:t>
            </a:r>
            <a:r>
              <a:rPr lang="en-TR" sz="1400" dirty="0"/>
              <a:t>. If two objects are equidistant, the active object selection is arbitrary. No blending or priority logic exists.</a:t>
            </a:r>
          </a:p>
          <a:p>
            <a:pPr marL="0" indent="0" algn="just">
              <a:buNone/>
            </a:pPr>
            <a:r>
              <a:rPr lang="en-TR" sz="1400" b="1" dirty="0"/>
              <a:t>3. No Joint Angle Limits</a:t>
            </a:r>
          </a:p>
          <a:p>
            <a:pPr marL="0" indent="0" algn="just">
              <a:buNone/>
            </a:pPr>
            <a:r>
              <a:rPr lang="en-TR" sz="1400" dirty="0"/>
              <a:t>The model outputs raw angles with no anatomical constraints. It can predict </a:t>
            </a:r>
            <a:r>
              <a:rPr lang="en-TR" sz="1400" b="1" dirty="0"/>
              <a:t>physically impossible poses</a:t>
            </a:r>
            <a:r>
              <a:rPr lang="en-TR" sz="1400" dirty="0"/>
              <a:t> — fingers bending backward, hyperextension — especially for unseen object sizes or rotations.</a:t>
            </a:r>
          </a:p>
          <a:p>
            <a:pPr marL="0" indent="0" algn="just">
              <a:buNone/>
            </a:pPr>
            <a:r>
              <a:rPr lang="en-TR" sz="1400" b="1" dirty="0"/>
              <a:t>4. Extreme Wrist Rotations</a:t>
            </a:r>
          </a:p>
          <a:p>
            <a:pPr marL="0" indent="0" algn="just">
              <a:buNone/>
            </a:pPr>
            <a:r>
              <a:rPr lang="en-TR" sz="1400" dirty="0"/>
              <a:t>Training data covers everyday interactions. </a:t>
            </a:r>
            <a:r>
              <a:rPr lang="en-TR" sz="1400" b="1" dirty="0"/>
              <a:t>Edge-case rotations</a:t>
            </a:r>
            <a:r>
              <a:rPr lang="en-TR" sz="1400" dirty="0"/>
              <a:t> (e.g., full pronation, overhead reach) are underrepresented. Model behavior outside the training distribution is unknown.</a:t>
            </a:r>
          </a:p>
          <a:p>
            <a:pPr marL="0" indent="0" algn="just">
              <a:buNone/>
            </a:pPr>
            <a:r>
              <a:rPr lang="en-TR" sz="1400" b="1" dirty="0"/>
              <a:t>5. Dual-Hand Interaction</a:t>
            </a:r>
          </a:p>
          <a:p>
            <a:pPr marL="0" indent="0" algn="just">
              <a:buNone/>
            </a:pPr>
            <a:r>
              <a:rPr lang="en-TR" sz="1400" dirty="0"/>
              <a:t>Left and right models are </a:t>
            </a:r>
            <a:r>
              <a:rPr lang="en-TR" sz="1400" b="1" dirty="0"/>
              <a:t>fully independent</a:t>
            </a:r>
            <a:r>
              <a:rPr lang="en-TR" sz="1400" dirty="0"/>
              <a:t>. When both hands interact with the same object, they produce conflicting joint angles with no coordination layer.</a:t>
            </a:r>
          </a:p>
          <a:p>
            <a:pPr marL="0" indent="0" algn="just">
              <a:buNone/>
            </a:pPr>
            <a:endParaRPr lang="en-TR" sz="1400" dirty="0"/>
          </a:p>
          <a:p>
            <a:pPr marL="0" indent="0" algn="just">
              <a:buNone/>
            </a:pPr>
            <a:r>
              <a:rPr lang="en-TR" sz="1400" b="1" dirty="0"/>
              <a:t>6. Release Animation</a:t>
            </a:r>
          </a:p>
          <a:p>
            <a:pPr marL="0" indent="0" algn="just">
              <a:buNone/>
            </a:pPr>
            <a:r>
              <a:rPr lang="en-TR" sz="1400" dirty="0"/>
              <a:t>The system handles approach → grip well. The </a:t>
            </a:r>
            <a:r>
              <a:rPr lang="en-TR" sz="1400" b="1" dirty="0"/>
              <a:t>grip → release transition</a:t>
            </a:r>
            <a:r>
              <a:rPr lang="en-TR" sz="1400" dirty="0"/>
              <a:t> has no dedicated logic — the hand snaps back to default pose, which breaks immersion.</a:t>
            </a:r>
          </a:p>
          <a:p>
            <a:pPr marL="0" indent="0" algn="just">
              <a:buNone/>
            </a:pPr>
            <a:r>
              <a:rPr lang="en-TR" sz="1400" b="1" dirty="0"/>
              <a:t>7. No Qualitative Validation</a:t>
            </a:r>
          </a:p>
          <a:p>
            <a:pPr marL="0" indent="0" algn="just">
              <a:buNone/>
            </a:pPr>
            <a:r>
              <a:rPr lang="en-TR" sz="1400" dirty="0"/>
              <a:t>The 12° MAE is a quantitative metric. There is </a:t>
            </a:r>
            <a:r>
              <a:rPr lang="en-TR" sz="1400" b="1" dirty="0"/>
              <a:t>no user study yet</a:t>
            </a:r>
            <a:r>
              <a:rPr lang="en-TR" sz="1400" dirty="0"/>
              <a:t> to confirm whether this accuracy level actually feels natural in VR. The perceptual threshold is unknown.</a:t>
            </a:r>
          </a:p>
          <a:p>
            <a:pPr marL="0" indent="0" algn="just">
              <a:buNone/>
            </a:pPr>
            <a:r>
              <a:rPr lang="en-TR" sz="1400" b="1" dirty="0"/>
              <a:t>8. Grip Category Dependency</a:t>
            </a:r>
          </a:p>
          <a:p>
            <a:pPr marL="0" indent="0" algn="just">
              <a:buNone/>
            </a:pPr>
            <a:r>
              <a:rPr lang="en-TR" sz="1400" dirty="0"/>
              <a:t>Pose prediction depends entirely on the assigned grip category tag. If the </a:t>
            </a:r>
            <a:r>
              <a:rPr lang="en-TR" sz="1400" b="1" dirty="0"/>
              <a:t>object is mistagged</a:t>
            </a:r>
            <a:r>
              <a:rPr lang="en-TR" sz="1400" dirty="0"/>
              <a:t> in Unity, the model silently produces a wrong pose with no fallback.</a:t>
            </a:r>
          </a:p>
          <a:p>
            <a:pPr marL="0" indent="0" algn="just">
              <a:buNone/>
            </a:pPr>
            <a:r>
              <a:rPr lang="en-TR" sz="1400" b="1" dirty="0"/>
              <a:t>9. Dataset-to-VR Transfer Gap</a:t>
            </a:r>
          </a:p>
          <a:p>
            <a:pPr marL="0" indent="0" algn="just">
              <a:buNone/>
            </a:pPr>
            <a:r>
              <a:rPr lang="en-TR" sz="1400" dirty="0"/>
              <a:t>HOT3D was recorded in a </a:t>
            </a:r>
            <a:r>
              <a:rPr lang="en-TR" sz="1400" b="1" dirty="0"/>
              <a:t>controlled lab setting</a:t>
            </a:r>
            <a:r>
              <a:rPr lang="en-TR" sz="1400" dirty="0"/>
              <a:t>, not a VR environment. Users in VR move differently — faster, more exaggerated motions — and this distribution shift is not measured.</a:t>
            </a:r>
          </a:p>
          <a:p>
            <a:pPr marL="0" indent="0" algn="just">
              <a:buNone/>
            </a:pPr>
            <a:r>
              <a:rPr lang="en-TR" sz="1400" b="1" dirty="0"/>
              <a:t>10. Quest 3 Latency — Unmeasured</a:t>
            </a:r>
          </a:p>
          <a:p>
            <a:pPr marL="0" indent="0" algn="just">
              <a:buNone/>
            </a:pPr>
            <a:r>
              <a:rPr lang="en-TR" sz="1400" dirty="0"/>
              <a:t>The &lt;1ms GPU figure is </a:t>
            </a:r>
            <a:r>
              <a:rPr lang="en-TR" sz="1400" b="1" dirty="0"/>
              <a:t>theoretical</a:t>
            </a:r>
            <a:r>
              <a:rPr lang="en-TR" sz="1400" dirty="0"/>
              <a:t>. Actual on-device inference latency under real VR workload (rendering, physics, tracking running simultaneously) has not been profiled.</a:t>
            </a:r>
          </a:p>
          <a:p>
            <a:pPr marL="0" indent="0" algn="just">
              <a:buNone/>
            </a:pPr>
            <a:endParaRPr lang="en-TR" sz="1400" dirty="0"/>
          </a:p>
        </p:txBody>
      </p:sp>
    </p:spTree>
    <p:extLst>
      <p:ext uri="{BB962C8B-B14F-4D97-AF65-F5344CB8AC3E}">
        <p14:creationId xmlns:p14="http://schemas.microsoft.com/office/powerpoint/2010/main" val="1372203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AE68-960E-CB30-64FD-32B79698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Article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71D8F-8525-C6DD-8868-F2C9AE8F5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>
                <a:solidFill>
                  <a:srgbClr val="FF0000"/>
                </a:solidFill>
              </a:rPr>
              <a:t>How can I walk in this phase?</a:t>
            </a:r>
          </a:p>
        </p:txBody>
      </p:sp>
      <p:sp>
        <p:nvSpPr>
          <p:cNvPr id="4" name="TitleHairline">
            <a:extLst>
              <a:ext uri="{FF2B5EF4-FFF2-40B4-BE49-F238E27FC236}">
                <a16:creationId xmlns:a16="http://schemas.microsoft.com/office/drawing/2014/main" id="{53169ED6-C6D8-EA4C-BA67-5B183AE6B1D7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94160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0580-B828-7FC7-3414-04AE7E76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 dirty="0">
                <a:solidFill>
                  <a:srgbClr val="0E7C7B"/>
                </a:solidFill>
                <a:latin typeface="Inter"/>
              </a:rPr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6FE8-2971-157F-EDFF-D34B6030E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>
                <a:solidFill>
                  <a:srgbClr val="FF0000"/>
                </a:solidFill>
              </a:rPr>
              <a:t>TBD</a:t>
            </a:r>
          </a:p>
        </p:txBody>
      </p:sp>
      <p:sp>
        <p:nvSpPr>
          <p:cNvPr id="4" name="TitleHairline">
            <a:extLst>
              <a:ext uri="{FF2B5EF4-FFF2-40B4-BE49-F238E27FC236}">
                <a16:creationId xmlns:a16="http://schemas.microsoft.com/office/drawing/2014/main" id="{9363ED79-2AAB-C44A-9A05-43F184575293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86843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3C81-4AE5-7320-9138-877C8029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R" sz="3200" b="1">
                <a:solidFill>
                  <a:srgbClr val="0E7C7B"/>
                </a:solidFill>
                <a:latin typeface="Inter"/>
              </a:rPr>
              <a:t>Discussion / the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5A6B-EE4A-0AD6-0B89-3BD2E8DB2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VR controller wrist addition</a:t>
            </a:r>
          </a:p>
          <a:p>
            <a:r>
              <a:rPr lang="en-TR" dirty="0"/>
              <a:t>User Experience plan</a:t>
            </a:r>
          </a:p>
          <a:p>
            <a:r>
              <a:rPr lang="en-TR" dirty="0"/>
              <a:t>Benchmark target</a:t>
            </a:r>
          </a:p>
          <a:p>
            <a:r>
              <a:rPr lang="en-TR" dirty="0"/>
              <a:t>Computer engineering benchmark - user experience benchmark</a:t>
            </a:r>
          </a:p>
          <a:p>
            <a:r>
              <a:rPr lang="en-TR" dirty="0"/>
              <a:t>Good documentation about what I Done</a:t>
            </a:r>
          </a:p>
          <a:p>
            <a:r>
              <a:rPr lang="en-TR" dirty="0"/>
              <a:t>MLAgent on Unity</a:t>
            </a:r>
          </a:p>
          <a:p>
            <a:endParaRPr lang="en-TR" dirty="0"/>
          </a:p>
        </p:txBody>
      </p:sp>
      <p:sp>
        <p:nvSpPr>
          <p:cNvPr id="4" name="TitleHairline">
            <a:extLst>
              <a:ext uri="{FF2B5EF4-FFF2-40B4-BE49-F238E27FC236}">
                <a16:creationId xmlns:a16="http://schemas.microsoft.com/office/drawing/2014/main" id="{E7BC9BE8-209A-D546-AA25-A4AAD62BEA6A}"/>
              </a:ext>
            </a:extLst>
          </p:cNvPr>
          <p:cNvSpPr/>
          <p:nvPr/>
        </p:nvSpPr>
        <p:spPr>
          <a:xfrm>
            <a:off x="838200" y="1752600"/>
            <a:ext cx="609600" cy="25400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2043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415281080]">
  <a:themeElements>
    <a:clrScheme name="Office">
      <a:dk1>
        <a:srgbClr val="1A1A1A"/>
      </a:dk1>
      <a:lt1>
        <a:srgbClr val="FFFFFF"/>
      </a:lt1>
      <a:dk2>
        <a:srgbClr val="4A4A4A"/>
      </a:dk2>
      <a:lt2>
        <a:srgbClr val="F2F2F2"/>
      </a:lt2>
      <a:accent1>
        <a:srgbClr val="0E7C7B"/>
      </a:accent1>
      <a:accent2>
        <a:srgbClr val="4A4A4A"/>
      </a:accent2>
      <a:accent3>
        <a:srgbClr val="8C8C8C"/>
      </a:accent3>
      <a:accent4>
        <a:srgbClr val="BFBFBF"/>
      </a:accent4>
      <a:accent5>
        <a:srgbClr val="0E7C7B"/>
      </a:accent5>
      <a:accent6>
        <a:srgbClr val="1A1A1A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8DA0B8-27CA-6C48-A4C9-E7951CB3F48D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b8c29ca8-31fb-4d0b-845d-21db39e9e7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2346</Words>
  <Application>Microsoft Macintosh PowerPoint</Application>
  <PresentationFormat>Widescreen</PresentationFormat>
  <Paragraphs>247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Google Sans Text</vt:lpstr>
      <vt:lpstr>Inter</vt:lpstr>
      <vt:lpstr>Office Theme [1780415281080]</vt:lpstr>
      <vt:lpstr>AuraXR</vt:lpstr>
      <vt:lpstr>Problem</vt:lpstr>
      <vt:lpstr>Flow - 1. Data Preparation &amp; Processing</vt:lpstr>
      <vt:lpstr>Flow - 2. Model Design &amp; Improvements</vt:lpstr>
      <vt:lpstr>Flow - 3. Training &amp; Validation</vt:lpstr>
      <vt:lpstr>Flow - 4. Model Evaluation</vt:lpstr>
      <vt:lpstr>Flow - 5. Export &amp; Optimization</vt:lpstr>
      <vt:lpstr>Flow - 6. Unity Integration &amp; C# Wrapper (Not Enough)</vt:lpstr>
      <vt:lpstr>Flow - 7. Hand Rendering &amp; Animation</vt:lpstr>
      <vt:lpstr>Flow - 8. Quest 3 Runtime Optimization (Current Phase)</vt:lpstr>
      <vt:lpstr>Flow - 9. Experiments &amp; Results</vt:lpstr>
      <vt:lpstr>Flow - 10. Paper Writing Sections</vt:lpstr>
      <vt:lpstr>Key insight</vt:lpstr>
      <vt:lpstr>Architecture</vt:lpstr>
      <vt:lpstr>Technical Deep-Dive &amp; Training</vt:lpstr>
      <vt:lpstr>Deployment &amp; Live Performance</vt:lpstr>
      <vt:lpstr>Approach</vt:lpstr>
      <vt:lpstr>HOT3D Dataset Overview</vt:lpstr>
      <vt:lpstr>What is UmeTrack?</vt:lpstr>
      <vt:lpstr>Evaluation plan</vt:lpstr>
      <vt:lpstr>Questions to be decided</vt:lpstr>
      <vt:lpstr>Article Phase</vt:lpstr>
      <vt:lpstr>Risks</vt:lpstr>
      <vt:lpstr>Discussion / the 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Murat Celik</dc:creator>
  <cp:lastModifiedBy>Murat Celik</cp:lastModifiedBy>
  <cp:revision>26</cp:revision>
  <dcterms:created xsi:type="dcterms:W3CDTF">2026-06-02T11:02:01Z</dcterms:created>
  <dcterms:modified xsi:type="dcterms:W3CDTF">2026-06-03T10:31:03Z</dcterms:modified>
</cp:coreProperties>
</file>