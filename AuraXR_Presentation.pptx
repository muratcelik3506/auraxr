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317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AuraXR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Controller Tabanlı Nesne-Duyarlı El Pozu Tahmini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HOT3D  ·  Two-Branch MLP  ·  Unity Sentis  ·  Meta Quest 3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Murat Çelik — Tez Sunumu | Haziran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4720" y="2651760"/>
            <a:ext cx="2194560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İçindekiler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A — Vizyon ve İhtiyaçlar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Tezin Vizyonu ve Katkı İddiası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Projeden Beklenen Çıktılar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Basitçe Ne Lazım (2-3 Model · Unity · Kullanıcı Testi)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B — Problem, Yaklaşım, Konumlanma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Motivasyon &amp; Problem  |  5. Yaklaşım: Pre-Shape Anticipatory Grasp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Dürüst Pozisyonlama (Heuristic Yakınlığı ve Çerçeveleme)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C — İlgili Çalışmalar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Akademik Literatür (ForceGrip dahil yakın çalışmalar)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Unity Asset &amp; Ticari VR Hand Çözümleri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D — Sistemin Derinleşmesi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HOT3D  |  10. Veri Hazırlama  |  11. Model Mimarisi  |  12. Eğitim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Değerlendirme Sonuçları  |  14. Karşılaştırma Protokolleri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ONNX &amp; Sentis  |  16. Unity Runtime  |  17. Rendering  |  18. Etkileşim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E — Deneyler ve Karşılaştırma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Sistem Karşılaştırmaları  |  20. Test Protokolü  |  21. User Study Detayları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F — Durum, Riskler, Plan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Proje Durumu  |  23. Riskler  |  24. Beklenen Sonuçlar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 8 Haftalık Yol Haritası  |  26. Tez Bölüm Yapısı  |  27. Kaynakça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Tezin Vizyonu ve Katkı İddiası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cümlelik vizyon, üç katkı bacağı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Tezin Tek Cümlelik Vizyon İfadesi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Latency-Aware Anticipatory Hand Pose Synthesis for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Controller-Driven VR Grasping: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System on Meta Quest 3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Cümlelik Katkı İddiası: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VR'da parmak takibi olmadan (yalnızca kontrolcü pozu + nesne semantiği),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gelecek-kare hand pose'unu tahmin eden,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3'te &lt;20 ms toplam gecikmeyle çalışan,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çalışmasıyla embodiment'a katkısı doğrulanmış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 uçtan-uca açık kaynak sistem.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katkı bacağı: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— Temporal anticipation ML modeli (heuristic'in yapamayacağı problem)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— Sistem deployment + latency budget analizi (Unity IE, Quest 3, thermal)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— n=20 within-subject user study (VEQ + NASA-TLX + objektif ölçümler)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Projeden Beklenen Çıktılar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Tezin sonunda elimde ne olacak — kod, model, demo, paper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Tez Seviyesinde Somut Çıktı Listesi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Eğitilmiş 2-3 model çekirdeği (her biri checkpoint + ONNX export):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Two-Branch MLP (mevcut, kendi karşılaştırma baseline'ımız)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Anticipation modeli (yeni — gelecek-kare tahmini, ana ML katkısı)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Opsiyonel generative head (CVAE veya 1-step distilled diffusion)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Unity Inference Engine ile entegre, Quest 3'te çalışan demo (.apk)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Latency budget + thermal sustained + quantization Pareto ölçüm tabloları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n=20 within-subject kullanıcı çalışması verisi + istatistiksel analiz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~80-100 sayfa tez metni (yöntem, deneyler, kullanıcı çalışması, tartışma)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Reproducibility paketi: GitHub repo (kod + README + figure pipeline)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Demo video (60-90 sn, Quest 3 üzerinde gerçek capture)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Akademik Hedef Çıktıları — Hangi Yayın Hedefi?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Birincil hedef: Yüksek lisans tezi savunması (kesin)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İkincil hedef: Workshop / short paper submission (gerçekçi)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VR Late-Breaking Work (2-4 sayfa, daha esnek)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ISMAR Doctoral Consortium / Poster (yüksek kabul oranı)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Late-Breaking Work / Extended Abstract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Üçüncül hedef (riskli): Full conference paper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VR / ISMAR / TVCG full paper — n=20'lik user study + sistem ölçümleri ile mümkün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/ SIGGRAPH — bu kapsamda gerçekçi değil (saf ML accuracy yarışı, çok güçlü rakipler)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olalım: 2 ay içinde top-tier full paper gerçekçi değildir.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lisans tezi + workshop/short paper sweet spot'tur.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Basitçe Ne Lazım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Model · Unity Deneyi · Kullanıcı Testi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 — Modeller: Hangileri ve Neden?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Mevcut Two-Branch MLP (BASELINE-of-our-method)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 anki sayılar: sağ 8.77 mm MPJPE, sol 9.44 mm MPJPE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Tezdeki rolü: tek-frame, anticipation'sız baseline (kendi karşılaştırma noktamız)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Temporal Anticipation Modeli (TEZIN ANA KATKI MODELİ)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son N=8 kare controller+nesne window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t+Δt için 22 joint angle (Δ ∈ {33, 67, 100, 133 ms})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aday: causal Transformer (small) veya GRU + future-step head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baseline'lar bunu YAPAMAZ → gerçek ML katkısının kaynağı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(opsiyonel, riskli): Generative head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CVAE veya 1-step distilled diffusion (FastGrasp tarzı)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obje + tek yaklaşım için diverse plausible grasp samples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zaman yeterse — yoksa Future Work bölümüne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 — Unity Deneyi: Neyi Ölçeceğiz?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hedefi: Quest 3'te &lt; 20 ms toplam gecikmeyle ML inference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ölçümleri (objektif, donanım üzerinde):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latency breakdown (sensor→feature→inference→denorm→IK→render)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Pareto: FP32 vs FP16 vs INT8 dynamic vs INT8 static-calibrated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30-dakikalık sustained thermal test (Snapdragon XR2 Gen 2 throttling)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footprint + cold-start warmup süresi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karşılaştırması (Quest 3'te kontrollü):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AuraXR-anticipatory vs AuraXR-reactive vs Quest 3 native hand tracking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regime'leri ayrı raporla: parmaklar görünür / obje arkasında oklüde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HOT3D ground truth ile MPJPE karşılaştırması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3.3 — Kullanıcı Testi: Minimum Yeterli Tasarım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Katılımcı: n=20 (G*Power: medium effect, k=4, ρ=0.5 → power 0.8)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Tasarım: Within-subject, 4×4 Latin square counterbalance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 onay: Üniversite IRB / etik kurul — başvuru BUGÜN yapılmalı (4-8 hafta sürer)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Koşul (her katılımcı hepsini sırayla yaşar):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AuraXR-anticipatory — gelecek-kare tahmini ile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AuraXR-reactive — sadece şu anki kare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Static neutral grip — sabit nötr poz (worst case kontrol)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Meta Interaction SDK — endüstri standart snap-grab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araçları: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Subjektif: VEQ (12) + NASA-TLX (6) + SUS-Slater Presence (6) = 24 item/koşul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Objektif: task completion time, error count, jitter (Accel mm/s²), penetration count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 süresi: ~75 dk toplam (eğitim + 4 koşul + survey + ara)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Motivasyon &amp;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VR'da el neden görünmez?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Problem: VR'da El Görünürlüğü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Durum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kontrolcüsü kullanıcının gerçek elini gizler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Kontrolcü yalnızca 6DoF pozisyon/rotasyon verir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Sanal el genellikle sabit bir nötr pozda gösterilir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Parmak takibi için kamera, eldiven veya sensör gerekir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donanımlar pahalı, kısıtlayıcı ve platform bağımlıdır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Sürükleyicilik ve varlık hissi düşer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53712" y="1005840"/>
            <a:ext cx="22860" cy="38404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4663440" y="1325880"/>
            <a:ext cx="4160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Kamera/eldiven olmadan doğal el animasyonu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Nesneye yaklaşırken el önceden şekillensin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 tipine göre doğru kavrama pozu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zamanlı, akıcı, süreksizlik olmayan geçiş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 üzerinde &lt; 5 ms/kare hedefi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ve sağ el bağımsız, iki model paralel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Şimdiye Kadar Çözülmedi?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çözümler iki uçta: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 tabanlı: Leap Motion, finger glove → yüksek maliyet, kullanım kısıtı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poz: statik el modeli → gerçekçi değil, sürükleyici değil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yol çok az çalışılmış: kontrolcü + nesne bilgisinden el tahmini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zorluk: Kontrolcü takan elin gerçek poz etiketleri yok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çözümü: HOT3D'deki bilek pozisyonunu kontrolcü proxy olarak kullan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dir_world dünya-çerçevesinde hesaplanır → bilek quaternion gerekmez → HOT3D↔Unity uyumsuzluğu sıfır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Yaklaşım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Proximity-Based Anticipatory Grasp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 Fikir: İnsan Eli Önceden Şekillenir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kupa tutmadan ~40 cm önce parmaklar kıvrılmaya başlar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'pre-shaping' refleksi beyin tarafından nesne tipi ve yaklaşma açısına göre belirlenir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bu biyolojik davranışı yapay sinir ağıyla modeller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Etkileşim Fazı: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 (&gt; 40 cm): Nötr poz, model çalışmaz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Pre-shape (10–40 cm): El nesneye göre açılmaya başlar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     (&lt; 10 cm): Parmaklar kavrama pozuna kapanır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  (temas): Poz kilitlenir, nesne elde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HOT3D ↔ Unity Köprüsü — Koordinat Uyumu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HOT3D: bilek pozisyonu var, kontrolcü yok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Unity: kontrolcü pozisyonu var, bilek yok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dir_world = (obj_pos − wrist_pos) / dist — her iki sistemde aynı hesap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Kontrolcü pozisyonu ≈ bilek pozisyonu (Quest 3 tutulduğunda)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Bilek quaternion gerektirmeyen world-frame yön → sistem uyumsuzluğu sıfır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 dönüşümü (Unity L-el → HOT3D R-el sistemi):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pos_hot3d  = (x, y, −z)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quat_hot3d = (qx, qy, −qz, qw)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Dürüst Pozisyonlama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baseline'ın yakınlığı ve hikayenin yeniden çerçevelenmesi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Heuristic Baseline'ın Yakınlığı — Mevcut Sayılar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karşılaştırma sonuçlarımız (results/baselines_table.md):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 el MPJPE: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MLP:        8.77 mm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distance_blend:     9.68 mm — fark sadece %9.4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category_mean:      9.73 mm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(k=5):          9.90 mm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el MPJPE: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MLP:        9.44 mm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distance_blend:     9.37 mm — heuristic KAZANIYOR (%0.7)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Anlamı: 1.37M parametrelik MLP, 30 satırlık 'lerp' formülünden istatistiksel olarak ayrılmıyor.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KÖTÜ değil — problem yapısı kapalı forma yakın olduğunu gösteriyor.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Çerçevelemenin Düzeltilmesi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ESKİ ÇERÇEVE (savunulamaz):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'Yeni hand pose ML modeli geliştirdim, baseline'ı geçtim'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reaksiyonu: 'Heuristic çok yakın, ML modeline gerçekten gerek var mı?'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YENİ ÇERÇEVE (savunulur):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'Heuristic'in YAPAMAYACAĞI üç şeyi yaptık:'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(1) Gelecek-kare anticipation — heuristic'in temporal context'i yok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(2) Uçtan-uca XR sistemi — Quest 3 deployment + latency + thermal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(3) Ölçülmüş user experience — n=20 within-subject empirical kanıt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Soru: 'AI uygulamayı gerçekten kontrol ediyor mu?'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cevap: EVET. Her frame'de kullanıcının gördüğü pozu ML çıktısı üretiyor.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refinement standart — Quest, ContactGen, Vision Pro hepsi kullanıyor.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zaten 'fully AI-controlled' kategorisinde — problem değil.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Akademik Literatür — Yakın Çalışmalar (Detaylı)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makale tek slide: atıf, içerik, bizim sistemle ilişki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HOT3D — Banerjee et al., CVPR 2025 (Highlight)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Banerjee, P. et al., 'HOT3D: Hand and Object Tracking in 3D from Egocentric Multi-View Videos', CVPR 2025 (top %13.5)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github.com/facebookresearch/hot3d  ·  arXiv: 2411.19167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 unique frame, 19 subject, 833 dk multi-view kayıt, 3,832 klip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obje (BOP 6DoF poz), iki paralel hand format: MANO + UmeTrack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+ Quest 3 eş zamanlı kayıt; biz yalnızca Quest 3 kullanıyoruz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Paper'ın baseline'ı: UmeTrack single-view 13.4 mm, two-view 9.5 mm MKPE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EĞİTİM VERİSİ kaynağımız (sağ 1.02M kare, sol 877K kare aktif kullanılıyor)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drop-in: facebookresearch/hand_tracking_toolkit ile MKPE doğrudan karşılaştırılır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UmeTrack — Han et al., SIGGRAPH Asia 2022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Han, S. et al., 'UmeTrack: Unified Multi-view End-to-end Hand Tracking for VR', SIGGRAPH Asia 2022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github.com/facebookresearch/UmeTrack  ·  arXiv: 2211.00099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Reality Labs'in production VR hand-tracking modeli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 RGB → 20 joint angle + 6-DoF wrist root = toplam 26 DoF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CNN + UmeTrack kinematic skeleton format (per-user mesh)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annotation FORMATIMIZ UmeTrack (22-vec çıktı = 20 aktif + 2 placeholder)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Karşılaştırma: UmeTrack çoklu kamera RGB gerektirir, AuraXR sıfır kamera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Aslen birbirini tamamlayıcı: UmeTrack görüş varken, AuraXR oklüzyon altında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3'ün native hand tracking'i UmeTrack türevidir — sistem karşılaştırması burada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MANO — Romero et al., SIGGRAPH Asia 2017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Romero, J., Tzionas, D., Black, M.J., 'Embodied Hands: Modeling and Capturing Hands and Bodies Together', SIGGRAPH Asia 2017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github.com/otaheri/MANO  ·  Model: mano.is.tue.mpg.de (kayıt gerekir)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hand modeli: 778 vertex + 1538 face mesh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PCA shape (β) + 45 axis-angle pose (15 joint × 3) = 55 parametre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Blend Skinning (LBS), tamamen differentiable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 standart — neredeyse her grasp/hand paper'ı MANO kullanıyor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BASELINE: MANO PCA per-class mean (zorunlu, düşük effort, kesin ekle)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köprüsü: HOT3D UmeTrack ↔ MANO mapping mevcut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çıktısı (UmeTrack) → MANO retarget mümkün (forward FK ile)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AvatarPoser — Jiang et al., ECCV 2022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Jiang, J. et al., 'AvatarPoser: Articulated Full-Body Pose Tracking from Sparse Motion Sensing', ECCV 2022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github.com/eth-siplab/AvatarPoser (MIT, 2025-02 aktif)  ·  arXiv: 2207.13784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head + iki hand 6-DoF poz (Quest controller benzeri sparse signal)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Mimari: Transformer encoder + IK refinement head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22 SMPL body joint rotation (full body)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YAKIN AKRABA — sparse VR sensör → joint angle felsefesi tamamen aynı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BASELINE: wrist → finger varyantına adapte edilebilir (1-2 hafta effort)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 paper'ında reviewer mutlaka soracak: 'Neden AvatarPoser denemediniz?'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Kodbase iyi organize: PyTorch, dokümante, MIT license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EgoPoser — Jiang et al., ECCV 2024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Jiang, J. et al., 'EgoPoser: Robust Real-Time Egocentric Pose Estimation from Sparse and Intermittent Observations Everywhere', ECCV 2024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github.com/eth-siplab/EgoPoser  ·  arXiv: 2308.06493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AvatarPoser'in devamı — intermittent (kesintili) sparse signal handling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motion decomposition, real-time inference, head-mounted target platform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pose, AuraXR ise hand pose — complementary problemler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controller'ın hand-tracking dışına çıktığı durumlar için motivation kaynağı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 sparse-input baseline (AvatarPoser zaten varsa marjinal değer)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paragrafında EgoPoser+AuraXR = 'complete sparse-input avatar reconstruction' framing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GrabNet — Taheri et al., ECCV 2020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Taheri, O., Ghorbani, N., Black, M.J., Tzionas, D., 'GRAB: A Dataset of Whole-Body Human Grasping of Objects', ECCV 2020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github.com/otaheri/GrabNet (269★, NOASSERTION)  ·  Dataset: github.com/otaheri/GRAB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dataset: 10 subject, 51 obje, whole-body grasp motion capture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Mimari: CoarseNet (cVAE) → MANO params; RefineNet contact refinement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Object Basis Point Set (BPS) — 4096 sampled point → 1024 distance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MANO pose params + 3D root translation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veri manifoldu (GRAB ↔ HOT3D her ikisi de whole-body human grasp)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ABLASYON: GrabNet-BPS (oracle) vs GrabNet-bbox (fair) — 2 sütun karşılaştır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orta (1-2 hafta, kodbase olgun)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ContactGen — Liu et al., ICCV 2023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Liu, S. et al., 'ContactGen: Generative Contact Modeling for Grasp Generation', ICCV 2023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github.com/stevenlsw/contactgen  ·  arXiv: 2310.03740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point cloud (2048 nokta) → 3 modlu contact: contact_map + part_map + direction_map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CVAE → contact representation → MANO fit via optimization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+ plausibility için tasarlanmış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mismatch: nokta bulutu istiyor (AuraXR sadece bbox+class)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UPPER BOUND olarak ekle — 'daha çok bilgi ne kadar kazandırır'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peer baseline OLAMAZ; dürüst framing: 'consumes strictly more information'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yüksek (slow optimization, environment kurulumu)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ContactOpt — Grady et al., CVPR 2021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Grady, P., Tang, C., Twigg, C.D., Vo, M., Brahmbhatt, S., Kemp, C.C., 'ContactOpt: Optimizing Contact to Improve Grasps', CVPR 2021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github.com/facebookresearch/ContactOpt (MIT)  ·  arXiv: 2104.07267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mesh + object mesh → DeepContact MLP predicts target contact maps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 optimization moves hand to satisfy predicted contacts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MANO pose çıkışı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RAKİP DEĞİL — tamamlayıcı refinement adımı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 sütunu: 'AuraXR + ContactOpt' — pose'un standart refinement'a uyumluluğunu gösterir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 bir mesh gerektirir (HOT3D'nin obje mesh'leri runtime'da kullanılabilir)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düşük-orta (add-on olarak); MIT license avantajı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FastGrasp — Wu et al., arXiv 2024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Wu, X. et al., 'FastGrasp: Efficient Grasp Synthesis with Diffusion', arXiv 2411.14786 (2024)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github.com/wuxiaofei01/FastGrasp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point cloud → PointNet encode → latent diffusion in MANO-AE space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generation (contact-map intermediate yok)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hedef: 1-step distilled diffusion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İlham kaynağı: 'tek-step diffusion' yaklaşımı Model 3 (opsiyonel) için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mismatch (point cloud); peer baseline değil — oracle/related work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(2024 sonu) olduğu için reproducibility belirsiz; 1 maintainer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G-DexGrasp — Jian et al., CVPR 2025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Jian, Y. et al., 'G-DexGrasp: Generalizable Dexterous Grasping Synthesis via Part-Aware Prior Retrieval', CVPR 2025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 2503.19457  ·  Public code release henüz duyurulmamış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mesh + language task instruction → retrieve grasp prior → generate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Dexterous robot hand outputs (Shadow / Allegro, MANO değil)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Part-aware prior retrieval — bizim 'retrieval-augmented' önerimize benziyor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SOTA referansı — related work'te 'state-of-the-art is here' demek için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hand → MANO retarget meaningless karşılaştırma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Tezde sadece atıf; reproduce etme YOK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GanHand — Corona et al., CVPR 2020 (Oral)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Corona, E., Pumarola, A., Alenya, G., Moreno-Noguer, F., Rogez, G., 'GanHand: Predicting Human Grasp Affordances in Multi-Object Scenes', CVPR 2020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github.com/enriccorona/GanHand  ·  YCB-Affordance dataset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RGB image → grasp type from 33-class taxonomy → MANO refinement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training, refinement loop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Oral, çok atıflı — related work paragrafında foundational citation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mismatch (RGB image); peer baseline değil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orta-yüksek (eski PyTorch, kurulum zor)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'CVPR flagship'i karşılaştırmadınız' derse — image-conditioned olduğunu hatırlat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ManipNet — Zhang et al., SIGGRAPH 2021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Zhang, H. et al., 'ManipNet: Neural Manipulation Synthesis with a Hand-Object Spatial Representation', SIGGRAPH 2021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github.com/cghezhang/ManipNet (CC-BY-NC)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wrist + object 6-DoF trajectory + SDF-based hand-object spatial repr.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— gelecek finger motion'ı tahmin eder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finger motion sequence over time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kavramının atası — Model 2 (anticipation) için ilham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mismatch: object 6-DoF TRAJECTORY istiyor; AuraXR sadece anlık bbox+class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Unity research kod; PyTorch'a port zor — skip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related work atıfı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ForceGrip — Han et al., SIGGRAPH 2025  ★ YENİ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Han, D., Kim, B., Lee, R., Kim, K., Hwang, H., Kang, H., 'ForceGrip: Reference-Free Curriculum Learning for Realistic Grip Force Control in VR Hand Manipulation', SIGGRAPH 2025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page: han-dongheun.github.io/ForceGrip  ·  arXiv: 2503.08061  ·  License: CC BY-NC-SA 4.0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Reference-free RL — motion capture verisi GEREKTİRMEZ (data-free)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fazlı curriculum: Finger Positioning → Intention Adaptation → Dynamic Stabilization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kontrolcü trigger input (grip force intention) + wrist movement + randomized obje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physically-plausible force-aware hand pose (contact force + finger torque)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reward function + sim-based training (PhysX/Bullet), zero mocap dependency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YAKIN SIGGRAPH 2025 RAKİBİ — controller trigger → realistic finger pose, aynı framing!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FARK: ForceGrip RL+sim, AuraXR supervised+HOT3D mocap; force domain vs pre-shape pose domain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§2'de mutlaka konumlandır: complementary problem (force VS anticipation)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fırsatı: AuraXR pre-shape (yaklaşma) + ForceGrip stabilization (temas) birleşimi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IHOI — Ye et al., CVPR 2022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Ye, Y., Gupta, A., Tulsiani, S., 'What's in your hands? 3D Reconstruction of Generic Objects in Hands', CVPR 2022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github.com/JudyYe/ihoi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RGB image of hand-holding-object → implicit 3D object surface + MANO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Ego-centric video frames'den uygulanır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Image-conditioned (RGB) — input mismatch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related work paragrafında 'image-based reconstruction' kategorisi için atıf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reproduce etme — peer baseline değil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User Grasp Intentions in VR — Zeng, 2025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Zeng, Y., 'Predicting User Grasp Intentions in Virtual Reality', M2 IASD Thesis, Université PSL, arXiv 2508.16582 (2025)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release: yok (Master's thesis)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Quest hand-tracking (palm + fingertip positions, 60 FPS) — kontrolcü değil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grasp TIMING (s) + grasp LOCATION (cm) + 5 fingertip vector @ grasp moment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Modeller: RF/XGBoost/KNN classification + LSTM/MJT regression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kendi 810-trial veri seti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YAKIN KARDEŞ — VR'da grasp prediction için aynı framing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FARK: Zeng = when/where (timing+location), AuraXR = how (joint angles)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Birbirinin tamamlayıcısı; sequential olarak stack edilebilir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§ 'closest sibling, complementary problem' framingi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Predictable! — Gamage et al., UIST 2021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Gamage, N.M. et al., 'So Predictable! Continuous 3D Hand Trajectory Prediction in Virtual Reality', UIST 2021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DL: dl.acm.org/doi/fullHtml/10.1145/3472749.3474753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VR'da el trajectory'sinin sürekli tahmini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KRİTİK BULGU: 'Gaze leads grasping actions by ~0.726 seconds'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 uzaklıktan yaklaşımda göz, 700+ ms önce nesneye sabitleniyor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AuraXR'ın 'pre-shape' fikri için biyolojik dayanak — motivation §1 referansı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Anticipation Δt=133 ms hedefimizin gaze lead time'ı (~700 ms) içinde olması güçlü argüman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 §1 motivation paragrafına mutlaka ekle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HOIGaze — Hu et al., CHI 2025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Hu, Z. et al., 'HOIGaze: Gaze Estimation During Hand-Object Interactions in XR Exploiting Eye-Hand-Head Coordination', CHI 2025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 2504.19828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Eye-hand-head triplet'inden gaze tahmini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Pro / Vision Pro gibi gaze tracking'li cihazlar için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Eye-hand coordination temporal yapısı modellenir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referansı — Quest Pro / sonraki nesil için multimodal extension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prior eklerse hand pose tahmini iyileşebilir (preliminary evidence)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Şimdi kullanmıyoruz (Quest 3'te gaze yok); tez §8 Future Work'te konumla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Shaping the Future of VR Hand Interactions — Razzaque 2025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Razzaque, S. et al., 'Shaping the Future of VR Hand Interactions: Lessons Learned from Modern Methods', arXiv 2504.00337 (2025)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hand interaction literatür review (Nisan 2025)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VR hand interaction tekniklerinin survey'i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contact modeling vs hard collider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freezing strategies, tier-based simulation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refinement penetration prevention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Tezimizin yöntemini literatür içinde konumlandırmak için referans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IKRefinement.cs modülümüzü literatür dilinde tarif eden bölüm var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§8'de mutlaka atıf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Temporal Transformer — Wen et al., CVPR 2023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Wen, Y., Pan, H., Yang, L., Pan, J., Komura, T., Wang, W., 'Hierarchical Temporal Transformer for 3D Hand Pose Estimation and Action Recognition from Egocentric RGB Videos', CVPR 2023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openaccess.thecvf.com/content/CVPR2023/...HTT...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Cascaded receptive fields: pose için kısa pencere (T=4), action için uzun (T=64)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Egocentric RGB'den 3D hand pose + action recognition birlikte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transformer, hierarchical attention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(Temporal Anticipation) mimari ilham kaynağı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varyant + RoPE pozisyon encoding → length generalization mümkün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için T=8 yeterli (action context yok, pose-only)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SmoothNet — Zeng et al., ECCV 2022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Zeng, A. et al., 'SmoothNet: A Plug-and-Play Network for Refining Human Poses in Videos', ECCV 2022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project page: ailingzeng.site/smoothnet  ·  arXiv: 2112.13715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pose smoothing için plug-and-play network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 metric (mm/s²) için referans formül kaynağı: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 = mean over joints of |a_pred − a_GT|  (a_t = p_{t+1} − 2p_t + p_{t-1})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Pose: 5-15 mm/s² 'iyi' aralığı (video pose için)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Jitter/smoothness metriği için referans (zorunlu metric)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AuraXR'ın 5-katmanlı yumuşatma sistemi (EMA + delta clamp) ile karşılaştırma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study'de Accel objektif metrik olarak kullan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6D Rotation Continuity — Zhou et al., CVPR 2019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atıf: Zhou, Y., Barnes, C., Lu, J., Yang, J., Li, H., 'On the Continuity of Rotation Representations in Neural Networks', CVPR 2019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 1812.07035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için rotation representation kıyaslaması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Quaternion + Euler antipodal discontinuity sorunu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6D representation (ilk iki sütun) → Gram-Schmidt 3. sütunu geri kurar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rotation regression'larda standart hale geldi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rotation head 6D representation kullanıyor (model.py)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decode: Gram-Schmidt → 3×3 matrix → quaternion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§3'te referans verilmesi gereken foundational citation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Diğer Datasetler — DexYCB · ARCTIC · OakInk · GRAB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DexYCB (Chao et al., CVPR 2021):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582K frame, 10 subject, 20 obje (YCB), 8 view RGB-D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 + 6DoF object pose, cross-dataset transfer'in canonical pairing'i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(Fan et al., CVPR 2023):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Articulated objects, 8 train / 1 val / 1 test subject, 9 view (1 ego + 8 allo)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'use' vs 'grasp' intent ayrımı — sadece grasp değil articulation da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OakInk / OakInk2 (Yang et al., CVPR 2022 / 2024):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OakInk2: bimanual, 627 görev, 100 obje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Kategoriler HOT3D ile büyük overlap (mug, bottle, can, spoon, plate, cup)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(Taheri et al., ECCV 2020):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subject, 51 obje, whole-body grasp; GrabNet'in eğitim verisi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transfer hedeflerimiz: HOT3D → DexYCB zero-shot + fine-tune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Unity Asset &amp; Ticari VR Hand Çözümleri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AuraXR'ın gerçek rakipleri — production-grade ürünler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Unity Auto Hand — Earnest Robot (Asset Store)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Konum: assetstore.unity.com/packages/tools/game-toolkits/auto-hand-vr-physics-interaction-128574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Geliştirici: Earnest Robot  ·  Fiyat: ~$45  ·  2000+ review, 5 yıldır aktif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finger placement: nesnenin geometry'sine göre parmaklar şekillenir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grab: rigid body + joint constraint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library: obje başına önceden tanımlı 'PoseScriptableObject'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yok — pose library + IK + collision sensing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karşılaştırma: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Hand: obje başına manuel pose tanımlama gerekli (yeni obje = yeni el yapımı iş)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AuraXR: HOT3D'deki 33 kategoriden generalization, yeni obje için kategori ataması yeter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rakibimiz — user study'de KOŞUL (d) olarak değerlendir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Interaction SDK — Meta (Quest)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Konum: Meta XR Interaction SDK (Unity Package)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Geliştirici: Meta  ·  Fiyat: ücretsiz  ·  Quest production grade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Snap-based grab: obje 'GrabPose' anchor'larına el snap olur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tracking + controller dual input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 / pinch / grab interaction primitives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grab (uzaktan obje çağırma) dahil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karşılaştırma: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SDK: snap-to-anchor, doğal değil — el kullanıcı pozisyonundan teleport olur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AuraXR: kontinyu animasyon, pre-shape sürekli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study'de KOŞUL (d) — endüstri gold standard karşılaştırma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bunu görmek ister: 'Meta SDK'dan farkınız ne?'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IK / VRIK — RootMotion (Asset Store)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Konum: assetstore.unity.com/packages/tools/animation/final-ik-14290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Geliştirici: RootMotion  ·  Fiyat: ~$90  ·  10 yıldır endüstri standardı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body + hand IK (FABRIK + analytical solvers)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VRIK: HMD + 2 hand controller → full body avatar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FingerRig: per-finger IK (target-driven, ML yok)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poses scriptable; obje contact'a göre interpolation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karşılaştırma: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VRIK: hand IK pure analytical — finger animation manual yazılım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AuraXR: HOT3D'den öğrenilen pre-shape, manuel pose authoring yok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mümkün: AuraXR finger angle + VRIK arm IK kombinasyonu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Tezde 'classical IK alternative' olarak bahset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OVRGrabber &amp; Quest Hand Tracking — Meta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OVRGrabber: Meta'nın eski snap-grab componenti (Oculus Integration)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Hand Tracking: kamera-tabanlı 26 DoF UmeTrack tabanlı çözüm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~75 ms (warm), ~320 ms (cold/predictive init)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 4 kameralı sistem ile parmak takibi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UmeTrack türevi production model — multi-view CNN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Parmaklar görünür değilse (oklüde) tracking düşer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skoru her parmak için ayrı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karşılaştırma: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hand tracking: parmaklar görünürken iyi, oklüde altında çöker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AuraXR: kontrolcü tabanlı, oklüzyon agnostik (görüş gerekmiyor)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karşılaştırması: occlusion regime'leri ayrı raporla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replacement değil, COMPLEMENT — birlikte kullanım optimal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Unity Inference Engine (eski Sentis) — Unity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Konum: docs.unity3d.com/Packages/com.unity.ai.inference@2.6/manual/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İsim değişikliği: 'Unity Sentis' (≤2024) → 'Unity Inference Engine' (2025+)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com.unity.ai.inference  ·  Namespace: Unity.InferenceEngine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ONNX runtime — CPU + GPU compute shader backends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resmi Quest 3 entegrasyonu destekli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 2.6: MultiHeadAttention, LayerNorm, Conv1/2/3D, GRU/LSTM, Gather/Scatter ✓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→ .sentis converter (Meta Tools): cold-start optimization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sorunu: ilk birkaç saniye stutter — warmup routine gerekli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ile ilişki: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inference runtime'ımız — AuraXRInferenceManager Unity.InferenceEngine kullanıyor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(FP16, INT8) için pipeline buradan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ReadbackAndClone() GPU→CPU bloklamayı async hale getirmek gerek (sorun C3)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 HOT3D Veri Seti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Reality Labs · CVPR 2025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HOT3D Nedir?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and Object Tracking 3D — Meta Research tarafından CVPR 2025'te yayımlandı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Egocentric (birinci şahıs) 3D el + nesne takip veri seti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~800+ sekans, ~1,5 milyon kare, 19 denek, 33 ev nesnesi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kayıt cihazı: Meta Quest 3 (derinlik sensörlü) + Project Aria (hafif gözlük)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 yalnızca Quest 3 kayıtlarını kullanır: hedef platformla aynı cihaz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Önceki veri setleri neden yetmez: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etiket only / çok az nesne / lab ortamı / el-nesne teması labeled değil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HOT3D: gerçek ortam, egocentric, 3D, el-nesne teması etiketli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HOT3D — Veri Modaliteleri &amp; UmeTrack İskeleti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Kare İçin Mevcut Veri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UmeTrack İskelet (22 Eklem)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video (VRS formatı, stereo)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Derinlik haritası (Quest 3)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(ivmeölçer + jiroskop)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el pozu: MANO + UmeTrack formatları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6DoF nesne pozu: pozisyon + rotasyon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güven skoru (hand_confidence)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kalibrasyon parametreleri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53712" y="1005840"/>
            <a:ext cx="22860" cy="38404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4663440" y="1325880"/>
            <a:ext cx="4160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parmak × 4 eklem = 20 aktif eklem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Eklem 20–21: placeholder (her zaman 0)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Thumb: CMC-flex, abduction, MCP, DIP (0–3)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abduction, MCP, PIP, DIP (4–7)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Middle: abduction, MCP, PIP, DIP (8–11)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+ Pinky: aynı yapı (12–19)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Radyan cinsinden, model normalize eder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HOT3D — 33 Nesne &amp; Kavrama Kategorileri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Grip (17 nesne) — Kupa, şişe, teneke, dambıl, karton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parmaklar nesne etrafında kapanır, güçlü sarma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Grip (3 nesne) — Kaşık, spatula, marker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parmak ucu, uzatılmış parmak konfigürasyonu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Palmar Grip (7 nesne) — Tabak, telefon, klavye, kumanda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Avuç açık, parmaklar yayılı, nesne avuç içinde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Grip (6 nesne) — Mouse, puzzle, küçük tutucu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 parmak + işaret parmağı sıkıştırması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nesne ID yerine 4 grip kategorisi + bbox → görülmemiş nesnelere genelleme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 Veri Hazırlama &amp; Öznitelik Mühendisliği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build_dataset.py · hot3d_utils.py · grip_categories.py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Hazırlama Adımları (build_dataset.py)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HOT3D ZIP'lerden sekans dizinleri bulunur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Seed=42 ile karıştır → %85 train / %15 val (sekans bazında bölme)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 bazında bölme: ardışık kareler çok benzer → validation şişer (leakage)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Her karede: dist &gt; 40 cm veya hand_confidence &lt; 0.70 → atla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15 dim öznitelik vektörü hesapla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Etiket: dist &lt; 10 cm → 'grip', aksi → 'pre_shape'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Normalize: train seti istatistiklerinden z-score (val'e sızdırma yok)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Grip karelerini 10× oversample — ham veride %5–8 → dengeye getir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Normalizasyon oversample öncesi: kopyalar istatistiği çarpıtmaz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HDF5 formatında kaydet (gzip, rastgele erişim, PyTorch DataLoader uyumlu)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Boyutlu Öznitelik Vektörü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dir_world [3] — El bilek→nesne birim vektörü, HOT3D world frame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= obj_pos − wrist_pos;  dir_world = delta / ||delta||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Bilek rotasyonuna bağımlı değil → sistem uyumsuzluğu yok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dir_obj_local [3] — Nesnenin yerel çerçevesine döndürülmüş yön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Telefonun ön mü arka mü yüzüne yaklaşıldığını kodlar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[1] — Bilek→nesne Euclidean mesafesi (metre)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 fazını belirler: pre-shape vs grip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approach_speed [1] — dot(bilek_hızı, dir_world)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Pozitif = nesneye doğru; hızlı uzanma ≠ yavaş yerleştirme davranışı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grip_onehot [4] — Power / Precision / Palmar / Pinch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 half-extents [3] — Nesne boyutları [x, y, z] yarı genişlik (metre)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şişe ≠ küçük şişe, aynı grip ama farklı parmak açılımı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Seti İstatistikleri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el: 877.985 kare toplam  →  train 738.466  ·  val 139.519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 el: 1.021.853 kare toplam  →  train 868.806  ·  val 153.047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öncesi: ~1,5 milyon ham kare (HOT3D Quest 3 kayıtları)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Dengesi: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veride grip kareleri yalnızca %5–8 → model pre-shape'e aşırı öğrenir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oversample → train setinde yaklaşık eşit dağılım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hedefleri: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1: 22 UME eklem açısı (radyan, z-score normalize)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2: 6D bilek rotasyonu — palm orientasyonu, yaklaşma yönüne göreli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 Model Mimarisi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Two-Branch MLP · ~1,37M parametre · src/model.py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Two-Branch MLP — Genel Yapı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Branch (giriş 8 dim): dir_world + dir_obj_local + dist + approach_speed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FC(8→512) + LayerNorm + ReLU → Dropout(0.125) → FC(512→256) + ReLU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Branch (giriş 7 dim): grip_onehot + bbox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FC(7→256) + LayerNorm + ReLU → FC(256→256) + ReLU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Fusion: cat(512) → FC(512→512)×3 + ReLU + Dropout (0.25 / 0.125 / 0.0625)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Finger Head (thumb–pinky): FC(512→128) → Dropout → FC(128→4) → cat(20) + zeros(2)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Rotation Head: FC(512→64) → ReLU → Dropout → FC(64→6)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Classifier (sadece training): FC(512→32) → FC(32→4) — ONNX'e aktarılmaz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Mimari Tasarım Kararları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ayrı encoder — Uzamsal ve nesne bilgisi erken karışmasın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birleştirme: 'kupa = yumruk' kestirmecesi öğrenilir, gerçek geometri ihmal edilir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Per-finger head — Baş parmak ve serçe çok farklı hareket eder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Paylaşılan çıkış katmanı: birini optimize ederken diğerini bozabilir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 rotasyon temsili (Zhou et al. 2019) — Kuaternyon antipodal süreksizliği yok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Gram-Schmidt ile 3. sütun geri hesaplanır, model 6 değer tahmin eder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output — [0, 2.0 rad] aralığını kısıtlamaz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saturasyonu olmadan geniş esneme açısı öğrenilebilir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Classifier (training only) — trunk'ı grip-category'e duyarlı tutar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Mesafe sinyali baskın olduğunda nesne tipini unutmayı engeller</a:t>
            </a:r>
            <a:endParaRPr 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ONNX Giriş/Çıkış Spesifikasyonu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 'spatial_input':  [batch, 8]  — normalize edilmiş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 'object_input':   [batch, 7]  — normalize edilmiş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 'joint_angles':   [batch, 22] — normalize; model_meta.json ile denorm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 'wrist_rot_6d':   [batch, 6]  — normalize; denorm → Gram-Schmidt → quaternion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Unity'de batch = 1 (her el için ayrı inference çağrısı)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model_meta.json içeriği: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feature_mean/std (15 değer), target_mean/std (22 değer), wrist_rot_mean/std (6 değer)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denorm: angle[i] = output[i] × tgtStd[i] + tgtMean[i]  (radyan)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eklemler: 0–19 (20 eklem); eklem 20–21 HOT3D'de her zaman 0.0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 Eğitim Stratejisi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· Compound Loss · CosineAnnealing · src/train.py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Hiperparametreler &amp; Donanım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AdamW — lr=5e-3, weight_decay=3e-4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Schedule: Linear warmup (200 epoch) + CosineAnnealingWarmRestarts (T₀=4000, T_mult=2)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T₀=4000: periyodik yeniden ısınma ile yerel minimumlardan kaçış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131.072 — tüm train seti RAM'e sığıyor → epoch = 1 gradient adımı, sıfır I/O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patience=4.000 (en az 1 tam cosine periyoduna izin verir)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epoch: 50.000 (pratikte ~20.000 civarında durur)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Donanım: Apple M2 Max — CUDA &gt; MPS &gt; CPU otomatik seçim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 ve sol el sıralı eğitilir — her iş tam GPU kapasitesi alır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augmentasyon: dir_world/dir_obj_local ±0.02, dist ±%10, bbox ±%5, speed +0.05 gürültü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 Loss Fonksiyonu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total_loss = compound_loss + 0.3 × wrist_rot_loss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Angle Loss — ağırlıklı Huber (β=0.5) eklem 0–19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kareleri 2× ağırlık: temas anındaki yanlış poz hemen fark edilir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Huber: büyük hataları (tracking glitch) MSE'ye göre daha az cezalandırır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Range Penalty — [0, 2.0 rad] dışı açıları cezalandırır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output + range penalty = Tanh'sız anatomik sınır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DIP–PIP Coupling — DIP ≈ 0.67 × PIP tendon anatomisi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elde DIP ve PIP aynı tendonla bağlı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Grip Classifier Loss — auxiliary CE, trunk'ı grip-aware tutar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Wrist Rotation Loss — 0.3 × MSE (kasıtlı olarak düşük: parmak MAE öncelikli)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 Değerlendirme Sonuçları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evaluate.py · evaluate_onnx.py · simulate.py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Performansı — Sayısal Sonuçlar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MAE (tüm eklemler, derece cinsinden):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el:  Genel 12.5°  —  Pre-shape 12.4°  —  Grip 18.8°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 el:  Genel 12.4°  —  Pre-shape 12.3°  —  Grip 15.1°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 el — Grip kategorisine göre MAE: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12.2°  |  Precision 13.7°  |  Palmar 12.8°  |  Pinch 11.8°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&lt; 5° idi → 12–15° aralığı capacity bottleneck işaret ediyordu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Uygulanan: hidden_dim 256→512, finger_hidden 64→128 → mevcut sayılar bu mimariyle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MAE ≠ VR'da görsel doğallık garantisi — subjektif değerlendirme zorunlu</a:t>
            </a:r>
            <a:endParaRPr 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Değerlendirme Araçları &amp; Simülasyon Testi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evaluate.py — Per-joint MAE (derece), per-faz ve per-grip-kategori dökümü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evaluate_onnx.py — ONNX Runtime çıktısı vs PyTorch: max diff &lt; 1e-5 doğrulaması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simulate.py — Sentetik yaklaşım testi (Unity öncesi kritik kontrol):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→ 30 → 20 → 10 → 5 → 2 cm adımları, sabit nesne (örn. Şişe)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adımda PIP eklemleri monoton artıyor mu? Ani sıçrama var mı?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Beklenen: 40 cm açık el → 10 cm tanımlı kavrama → 2 cm tam yumruk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test_onnx_live.py — Her grip kategorisi için 40→2 cm canlı ONNX çıktısı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doğrulaması: Unity'ye geçmeden önce son kontrol noktası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 Karşılaştırma Protokolleri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· LOO-O · Cross-dataset · Penetration · Jitter · PCK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14.1 — Generalization Protokolleri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Leave-One-Subject-Out (LOSO):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cross-subject, 13 training subject içinden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Metrik: mean±std MPJPE + worst-subject MPJPE + 95% CI bootstrap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Önemli: Worst-subject long-tail reviewer'ın baktığı sayı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Leave-One-Object-Out (LOO-O):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Feix grasp kategorisi başına 1-2 obje hold-out (toplam 4-6 obje)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Soru: 'model lookup table mu, geometri mi öğrendi?'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Eğer &lt;30% degradation: gerçek learning kanıtı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Cross-Scenario (HOT3D scene tag):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Leave-One-Scenario-Out: kitchen / office / living room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AuraXR'ın doğal avantajı: vision yok → scene agnostik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14.2 — Cross-Dataset Transfer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Kanonik benchmark: HOT3D → DexYCB / ARCTIC / OakInk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1: Zero-shot — HOT3D-trained model'i hiç değiştirmeden test et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2: k-shot fine-tune — k=1, 5, 25, 100 sample per target subject/object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3: Full fine-tune — target dataset'in train split'i ile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Plot: k vs MPJPE curve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HOT3D UmeTrack ↔ MANO mapping zaten var (HOT3D internal)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DexYCB / ARCTIC / OakInk → MANO native; gevşek mapping yeterli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dex-retargeting kütüphanesi robot için, BURADA gerek yok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sonuç: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asymmetry: HOT3D→DexYCB 1.4-1.9× MPJPE inflation</a:t>
            </a:r>
            <a:endParaRPr lang="en-US" sz="1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14.3 — Fiziksel ve Temporal Metrikler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depth (mm): max distance penetrating vertex → object surface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volume (cm³): voxelized hand-object intersection at 0.5 cm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displacement: PyBullet 2s gravity, object center movement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trimesh + Open3D SDF queries — 1 günlük implementation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/ Smoothness: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 (mm/s²): mean over joints of |a_pred − a_GT|, a_t = p_{t+1} − 2p_t + p_{t-1}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 &lt;15 mm/s² (SmoothNet 'iyi' referansı)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curve: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30 frame MPJPE plotu (yaklaşık 333 ms @ 90 Hz)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model varsa LEGITIMATE NOVELTY — underreported in literature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14.4 — Tip Metrikleri ve PCK Curve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PCK Curve (Percentage of Correct Keypoints):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Plot: PCK at 5/10/15/20/30/50 mm thresholds (tek AUC değil eğri)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Tight-end PCK (&lt;10 mm) — VR rendering kalitesi için kritik aralık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FreiHAND / DexYCB / HO-3D paper'larının standardı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Geodesic Rotation Error: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arccos((tr(R_pred^T R_gt) − 1) / 2), reported in degrees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hatası gimbal lock bias'lı — geodesic standart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rapor et (outliers grip transition'da mean'i bozar)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Per-finger MPJPE: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 genelde en kötü (anatomik kompleksite)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Fingertip MPJPE: VR'da görsel kalite için en önemli sub-metric</a:t>
            </a:r>
            <a:endParaRPr 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 ONNX Export &amp; Unity Sentis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export_onnx.py · opset 14 · model_meta.json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ONNX Export Süreci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ONNX? Unity Sentis cihaz GPU'sunda ONNX modellerini çalıştırır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adımları: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best_model.pt + model_meta.json yüklenir, model.eval() modu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Dummy input: spatial[1,8] + object[1,7]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torch.onnx.export — opset 14, do_constant_folding=True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ONNX Runtime bitwise doğrulama: max diff &lt; 1e-5 zorunlu koşul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model_meta.json → onnx/ klasörüne kopyalanır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Çıktılar: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auraxr_right.onnx · auraxr_left.onnx · model_meta_right.json · model_meta_left.json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Unity Sentis — Yükleme &amp; Çalıştırma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Kurulum: .onnx ve model_meta_*.json → Assets/AuraXR/Models/ altına kopyalanır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Inspector: rightModelAsset, leftModelAsset, rightMetaJson, leftMetaJson atanır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Start(): ModelLoader.Load() → new Worker(model, BackendType.GPUCompute)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GPUCompute: Snapdragon XR2 Gen 2 GPU (Quest 3) kullanır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N=2 karede inference çağrısı: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Tensor&lt;float&gt;(TensorShape(1,8), spatialInput)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worker.SetInput → Schedule() → PeekOutput → ReadbackAndClone()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ReadbackAndClone() GPU→CPU transfer: Quest 3'te render thread'i bloke edebilir (Sorun C3)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BackendType.GPUCompute Snapdragon'da doğrulanmadı → CPU fallback hazır olmalı (Sorun C2)</a:t>
            </a:r>
            <a:endParaRPr lang="en-US" sz="1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 Unity Runtime Hattı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AuraXRFeatureAssembler · AuraXRInferenceManager</a:t>
            </a:r>
            <a:endParaRPr lang="en-US" sz="15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Assembler (AuraXRFeatureAssembler.cs)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karede LateUpdate(): OVR kontrolcü pozisyon/rotasyon okunur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ProximityDetector'dan en yakın InteractableObject alınır (0.3 m yarıçap)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boyutlu ham kare oluşturulur (dims 32–95: görsel embedding placeholder, sıfır)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Kare, 16 elemanlı ring buffer'a eklenir (gelecekteki temporal modeller için)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 dönüşümü (Unity → HOT3D frame):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pos:  f[2] = −pos.z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quat: f[6] = −rot.z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dönüşüm eksikse dir_world yanlış yönü gösterir → hatalı poz üretilir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frameSampleRate=2 → ~36 fps efektif (training verisi ~30 fps ile uyumlu)</a:t>
            </a:r>
            <a:endParaRPr 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 Manager — 12 Adımlık Hat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1–3. Kontrolcü + nesne → HOT3D frame → dir_world ve dist hesapla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dir_obj_local = Inverse(obj_quat_HOT3D) × dir_world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approach_speed = dot(bilek_hızı_HOT3D, dir_world)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grip_onehot + bbox: BopToGrip / BopToBbox tablosundan (33 nesne, tüm düzeltildi)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15 dim öznitelik: [dir_world, dir_obj_local, dist, speed, grip, bbox]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Normalize: feat[i] = (feat[i] − mean[i]) / std[i]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ONNX'e gönder: spatial[0:8] + object[8:14] → Sentis worker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Denormalize 22 UME açısı → EMA yumuşatma (α=0.35)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UME[22] → MANO[15]: {0,2,3, 5,6,7, 9,10,11, 13,14,15, 17,18,19}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wrist_rot_6d → Gram-Schmidt → quaternion → predictedRot</a:t>
            </a:r>
            <a:endParaRPr lang="en-US" sz="1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Yerleşimi &amp; Geri Dönüş Mantığı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N=2 karede bir, el konumlandırma her kare güncellenir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Pozisyon: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virtualHand.pos = ctrl.pos + predictedRot × handPivotOffset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handPivotOffset = (0.1685, 0, 0.0351) — Quest 3 origin'den bilek ofseti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Rotasyon (Gram-Schmidt decode):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qCanonical = LookRotation(dirWorldUnity) — yaklaşma yönüne canonical çerçeve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predictedRot = qCanonical × q_rel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dönüş: nesne yoksa model çalışmaz, kontrolcü rotasyonu kullanılır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debugBypassModel=true: tüm MANO eklemleri 0.5 rad → rig kablolamasını doğrular</a:t>
            </a:r>
            <a:endParaRPr lang="en-US" sz="1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 El Rendering &amp; Poz Yumuşatma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HandRigController · HandSkeletonAnchor · 5 Katman</a:t>
            </a:r>
            <a:endParaRPr lang="en-US" sz="15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Rendering Hattı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HandRigController (execution order 500):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MANO[15] açılarını 15 kemik transform'una uygular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Per-joint sign multiplier (±1): rig kemik yönüne göre ayarlanır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 sınırı: clamp [−15°, 130°]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override: kavrama sırasında kapalı yumruk pozuna blend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HandSkeletonAnchor (execution order 1000):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HandRigController sonrası çalışır — güncel açıları okur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kinematics: kemik açıları → dünya uzayı 3D konumlar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HandProximityVisibility: nesneye yaklaşırken fade-in, uzaklaşırken fade-out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Katmanlı Poz Yumuşatma Sistemi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1 — Eşik Geçiş Blend (30–40 cm)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clamp((40−dist)/10, 0,1) → lerp(nötr_poz, model_çıktı, α)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2 — Giriş EMA (α_in = 0.3–0.5)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Kontrolcü takip gürültüsü ve ani nesne geçişleri filtrelenir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3 — N karede bir inference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 → Unity lerp aradaki kareleri doldurur (~36 fps efektif)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4 — Çıkış EMA (α=0.35)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smooth[t] = 0.35 × output[t] + 0.65 × smooth[t−1]  (22 eklem açısı)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5 — Delta Clamp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karede maksimum eklem açısı değişimini sınırlar — ani zıplama engeli</a:t>
            </a:r>
            <a:endParaRPr lang="en-US" sz="1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 Etkileşim &amp; Görev Sistemi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ProximityDetector · VirtualHandGrab · SessionDataLogger</a:t>
            </a:r>
            <a:endParaRPr lang="en-US" sz="15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Nesne Etkileşim Mimarisi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InteractableObject.cs — Her nesneye HOT3D BOP kategori ID (1–33) atanır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ID üzerinden BopToGrip + BopToBbox lookup tabloları çalışır (33/33 doğrulandı)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ProximityDetector.cs — Her kare 0.3 m yarıçap içindeki en yakın nesneyi bulur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featureAssembler.nearestObject ve categoryId güncellenir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VirtualHandGrab.cs: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&gt; eşik → nesneyi yakala (fizik devre dışı, nesne eli takip eder)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Bırakınca: fizik yeniden aktif, el hızıyla fırlat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IsGrabbing = true → HandRigController yumruk pozuna blend yapar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SnapZone.cs — Nesneyi belirli konuma yerleştirme (mutfak görevi teslim noktaları)</a:t>
            </a:r>
            <a:endParaRPr lang="en-US" sz="14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Görev Sistemi &amp; Oturum Kaydı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ScenarioKitchenTask.cs — Mutfak görevi sekansı: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[nesne] → Taşı [hedef] → SnapZone'a yerleştir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görev tamamlanma koşulları izlenir, event sistemi ile UI'a bildirilir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TaskScoreUI.cs — VR world-space canvas: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listesi (✓), zamanlayıcı, 1–3 yıldız puanı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SessionDataLogger.cs — Her 100 karede CSV flush: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· left/right_grip · left/right_trigger · wrist_pos ×2 · obj_category ×2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Application.persistentDataPath/Logs/ (Quest 3: Android internal storage)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karede bir flush → uygulama çökerse veri kaybı minimize</a:t>
            </a:r>
            <a:endParaRPr lang="en-US" sz="14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 Sistem Karşılaştırmaları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 native · Latency budget · Quantization Pareto</a:t>
            </a:r>
            <a:endParaRPr lang="en-US" sz="15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19.1 — Quest 3 Native Hand Tracking vs AuraXR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 paper: 'Robotic Characterization of Markerless Hand-Tracking on Meta Quest Pro and Quest 3' (Queen's, IEEE VR 2025)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manipulator mannequin hand → bilinen trajectory → ground truth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Comparison Setup: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rejim ayrı raporla: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(a) Parmaklar tam görünür — Quest avantajlı rejim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(b) Parmaklar obje arkasında veya FOV dışı — Quest çöker, AuraXR çalışır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GT: HOT3D multi-view annotation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Metrikler: MPJPE, fingertip MPJPE, Accel, dropout rate (Quest confidence=low %)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 (kritik!):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AuraXR, Quest hand tracking REPLACEMENT değildir — COMPLEMENT'tir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Occluded regime'de AuraXR avantajlı, visible regime'de Quest avantajlı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kullanım optimal: confidence düştüğünde AuraXR'a switch</a:t>
            </a:r>
            <a:endParaRPr lang="en-US" sz="1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19.2 — Latency Budget Breakdown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 Quest 3 90 Hz için 11.1 ms/frame total budget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Stage-by-stage instrumentation (Stopwatch in AuraXRInferenceManager):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Sensor → Feature assembly  (OVR controller read + transform)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 → Input tensor     (normalization + tensor alloc)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Inference                  (Unity Inference Engine ONNX run)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Output denormalization     (joint angle reconstruction)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IK refinement              (penetration check + correction)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Pose → Unity skinning      (bone transform application)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Render submit              (frame to display)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Reporting: stacked horizontal bar per device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 (CPU) / Quest 3 (GPUCompute) / desktop fallback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over 5000 frames; min/median/p99/max ayrı raporla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Referans: XRBench (MLSys 2023)</a:t>
            </a:r>
            <a:endParaRPr lang="en-US" sz="14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19.3 — Quantization + Thermal Sustained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Pareto (src/quantize_onnx.py kullanılır):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4-satırlı tablo: FP32 / FP16 / INT8 (dynamic) / INT8 (static-calibrated)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Sütunlar: MPJPE, latency, model size (MB), peak memory (MB)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Plot: MPJPE-vs-latency Pareto curve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Beklenen: INT8 dynamic ~1.5-3× faster than FP16, &lt;%2 MPJPE inflation (proper calibration)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set: 100-500 representative samples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Sustained Operation (30-min stress test):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Plot: inference latency, GPU clock, SoC skin temperature vs time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 thermal API: OVRManager.systemDisplayFrequency + persistent thermal log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Soru: AuraXR 90 Hz altına düşüyor mu OS throttle öncesi?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Referans: AIvaluateXR (arXiv 2502.15761) — XR cihazlarda LLM benchmark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Bilinen finding: ~40% GPU clock reduction within 90s of sustained AR workload</a:t>
            </a:r>
            <a:endParaRPr 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 Test Protokolü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Aşamalı Doğrulama — Python → Editor → Quest 3 → Kullanıcı</a:t>
            </a:r>
            <a:endParaRPr lang="en-US" sz="15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Aşama 1 &amp; 2 — Python Testleri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1: Python Offline Değerlendirme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HOT3D val split üzerinde, yumuşatma yok — ham model performansı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Metrikler: Per-joint MAE (hedef &lt; 5°), MPJPE (hedef &lt; 20 mm)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Per-nesne hata dengesi: Bottle ve Cup için ayrı MAE kontrol edilir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2: Python Simülasyon Testi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Sentetik yol: 40→30→20→10→5→2 cm, sabit nesne (Şişe)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mesafede eklem açıları grafiklenir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cm: açık el | 10 cm: tanımlı kavrama | 2 cm: tam yumruk beklenir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Monotonluk bozulması ve saçma geçişler burada yakalanır (Unity öncesi filtre)</a:t>
            </a:r>
            <a:endParaRPr lang="en-US" sz="14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Aşama 3 &amp; 4 — Unity Editor &amp; Quest 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3: Unity Editor Testi (Cihaz Gereksiz)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 sonrası Play modunda simüle yol testi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Bottle'a yaklaşınca el pozu değişiyor mu?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Console: inference süresi &lt; 5 ms mi?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+ delta clamp çalışıyor mu?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 → Cup geçişinde poz bozuluyor mu?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4: Quest 3 On-Device (⏳ Bekliyor)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SessionDataLogger her kare kaydeder → Python analizi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BackendType.GPUCompute Snapdragon XR2'de çalışıyor mu?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kullanımda eklem açısı dağılımı beklenen aralıkta mı?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koşul: VirtualHands vs Controller vs StaticPose (Latin kare sırası)</a:t>
            </a:r>
            <a:endParaRPr lang="en-US" sz="14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Kullanıcı Çalışması Protokolü — Özet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Katılımcı: ~15–20 kişi (orta etki büyüklüğü, %80 güç)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 / etik komite onayı: veri toplanmadan önce zorunlu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Araçları: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Doğallık: 5 puanlı Likert ('el hareketi doğal göründü mü?')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süresi: SessionDataLogger otomatik ölçüm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yükü: NASA-TLX anketi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Koşul (within-subjects, Latin kare):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VirtualHands — AuraXR el animasyonu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— Standart kontrolcü görünümü, el yok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StaticPose — Sabit nötr el pozu, hareket yok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Düşük sayısal MAE görsel doğallığı garanti etmez — subjektif test zorunlu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↪ Detaylı tasarım için sonraki bölüm (User Study Detayları)</a:t>
            </a:r>
            <a:endParaRPr lang="en-US" sz="1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 User Study — Tasarım Detayları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n=20 · within-subject · 4 koşul · 75 dk oturum</a:t>
            </a:r>
            <a:endParaRPr lang="en-US" sz="15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21.1 — Tasarım Yapısı ve Sample Size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Tasarım: Within-subject (varyans kontrolü için)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interaction VR'da konvansiyon (CHI / IEEE VR 2020-2025 norm)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n=20 — Power Analysis (G*Power):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F-test family → RM-ANOVA within factors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f=0.25 (medium), correlation ρ=0.5, α=0.05, power=0.8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 ≈ 18-20 yeterli (CHI 2025 meta-study confirms)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Counterbalance: 4×4 Latin square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koşul × 5 sıralama = n=20 doğal düşer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Karşılık: 5+ koşul varsa Williams square (first-order carryover balanced)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validity için 2-aşamalı task: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Fitts-pinch-and-place (reproducible, literatür uyumlu)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5-obje tower stack (ecological, gerçek grasp)</a:t>
            </a:r>
            <a:endParaRPr lang="en-US" sz="14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21.2 — 4 Koşul ve Justification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 (a) — AuraXR-anticipatory: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model t+Δt prediction ile, 5-katmanlı yumuşatma açık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Tezimizin headline koşulu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 (b) — AuraXR-reactive: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Two-Branch MLP, anticipation kapalı, sadece şu an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Soru: anticipation gerçekten fark ediyor mu?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 (c) — Static neutral grip: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Sabit, ML yok, sadece nötr el pozu (worst-case baseline)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Soru: herhangi bir ML kazanım sağlıyor mu?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 (d) — Meta Interaction SDK: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Endüstri standart snap-grab, AuraXR'ın gerçek rakibi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Soru: AuraXR endüstri çözümünden iyi mi?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4 koşul → 4 ortogonal araştırma sorusu cevaplar</a:t>
            </a:r>
            <a:endParaRPr lang="en-US" sz="14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21.3 — Ölçüm Araçları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Subjektif (her koşul sonrası):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VEQ (Roth &amp; Latoschik 2020) — 12 item, 3 faktör (ownership, agency, change)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NASA-TLX — 6 item (mental, physical, temporal, performance, effort, frustration)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SUS-Slater Presence — 6 item, en kısa presence ölçeği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Toplam: 24 item/koşul × 4 koşul = 96 item (gerçekçi yorgunluk eşiği)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Objektif (otomatik logging):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time (s) — Fitts ID/MT for pointing, raw time for grasping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count: drops, mis-grasps, target misses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count: visible interpenetration events per trial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(Accel mm/s²) — runtime measurement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 (sensor → display) — controller log markers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Regrasp count (correction events) — IsGrabbing transitions</a:t>
            </a:r>
            <a:endParaRPr lang="en-US" sz="14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21.4 — İstatistiksel Analiz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akışı: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Normality check: Shapiro-Wilk her koşul için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2a. Normal → RM-ANOVA + Tukey HSD veya Bonferroni post-hoc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2b. Non-normal → Friedman + Wilcoxon signed-rank post-hoc + Bonferroni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 data default non-normal → Friedman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(CHI 2025'ten beri zorunlu):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RM-ANOVA için: η_p² (partial eta-squared)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için: Kendall's W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için: r = Z / √N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only artık reject sebebidir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örnekleri (literatür):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Hand-Retargeted Interaction (arXiv 2404.03899) — RM-ANOVA template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PinchCatcher (arXiv 2503.05456) — RM-ANOVA + Wilcoxon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MR (arXiv 2511.11962) — Friedman + Wilcoxon</a:t>
            </a:r>
            <a:endParaRPr lang="en-US" sz="14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 Proje Durumu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 2026 itibarıyla — Pipeline Aşama A–K</a:t>
            </a:r>
            <a:endParaRPr lang="en-US" sz="15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Tamamlanan Aşamalar 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HOT3D veri seti indirildi (data/quest3/)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build_dataset.py — dataset.h5 oluşturuldu (sol 877K · sağ 1,02M kare)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Two-branch MLP mimarisi tasarlandı (src/model.py)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Sağ ve sol el modelleri eğitildi (checkpoints/ — best_model.pt)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E: evaluate.py çalıştırıldı (MAE: sağ 12.4° / sol 12.5°)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 ONNX export tamamlandı (opset 14, bitwise doğrulama &lt; 1e-5 geçildi)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G: AuraXRFeatureAssembler — kare bazında doğrulandı, Unity'de çalışıyor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 AuraXRInferenceManager — inference çalışıyor, pivot offset ayarlandı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HandRigController + HandSkeletonAnchor — rendering çalışıyor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InteractableObject + VirtualHandGrab + TaskScoreUI — kısmi tamamlandı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BopToGrip + BopToBbox: 33/33 nesne düzeltildi (2 Haziran 2026)</a:t>
            </a:r>
            <a:endParaRPr lang="en-US" sz="14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Devam Eden &amp; Bekleyen Aşamalar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Unity FK ayarı — kemik rotasyon eksenleri ince ayar aşamasında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HandSkeletonAnchor pivot tuning — her iki el için ayrı doğrulama gerekiyor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K — Quest 3 on-device test: BackendType.GPUCompute doğrulanmadı (C1)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ReadbackAndClone() blocking — async versiyon araştırılıyor (C3)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fingerJoints[15] Inspector bağlantısı her iki el için kontrol edilmeli (U1)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handPivotOffset tek oturumdan ölçüldü — kullanıcıya göre değişebilir (U2)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Model kuantizasyon Float32→Int8/Float16 (P3 — gelecek)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Kullanıcı çalışması — IRB başvurusu henüz yapılmadı (P4)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Ablasyon tablosu — öznitelik maskeleme deneyleri planlanıyor</a:t>
            </a:r>
            <a:endParaRPr 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 Riskler &amp; Çözüm Stratejileri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· Orta · Tez Kapsamı Dışı</a:t>
            </a:r>
            <a:endParaRPr lang="en-US" sz="15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Kritik Riskler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MAE hedefi aşıldı (&lt; 5° hedef, şu an ~12°)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Uygulanan: hidden_dim 256→512 → mevcut sayılar bu genişletilmiş mimariye ait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Sonraki: ablasyon (hangi öznitelik katkısı düşük?) + daha fazla veri?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Quest 3'te BackendType.GPUCompute çalışmayabilir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Yedek: BackendType.CPU ile test et, &lt; 5 ms hedefi karşılanıyor mu?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ReadbackAndClone() rendering thread'i bloke edebilir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Yedek: Async tensor readback veya çift buffer mimarisi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R4: Grip kareleri az → grip fazı yeterince öğrenilemiyor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Uygulanan: 10× oversample + 2× Huber ağırlığı — kısmi iyileşme, grip MAE hâlâ yüksek</a:t>
            </a:r>
            <a:endParaRPr 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Orta Riskler &amp; Kapsam Dışı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Riskler: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yakın nesne hızla değişirse (hysteresis yok): el takip edemez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yalnızca yeni nesne belirgin şekilde daha yakınsa geçiş yap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 yokken model çalışırsa: gereksiz inference + hatalı poz riski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nesne yoksa model çalışmaz, nötr poz'a lerp (uygulandı)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Anatomik imkânsız poz: range penalty yetersiz kalırsa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HandRigController'da clamp [−15°, 130°] (uygulandı)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 Kapsamı Dışında (Gelecek Çalışma):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El-nesne nüfus: IK / fizik simülasyonu gerektirir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entegrasyonu: visual embedding placeholder hazır (dims 32–95)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Kuantizasyon: Float32→Int8/Float16 — Quest 3 optimizasyonu</a:t>
            </a:r>
            <a:endParaRPr lang="en-US" sz="14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 Beklenen Sonuçlar &amp; Sonraki Adımlar</a:t>
            </a:r>
            <a:endParaRPr lang="en-US" sz="34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Beklenen Sonuçlar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Doğal el ön-şekillenmesi — ~40 cm'den itibaren nesneye göre parmaklar kıvrılır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Nesneye özgü kavrama: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Kupa → Power | Kaşık → Precision | Tabak → Palmar | Mouse → Pinch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Akıcı geçişler — EMA (α=0.35) kare-arası titreşimi ortadan kaldırır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Gerçek zamanlı — ~1,37M parametre MLP → &lt; 5 ms/kare (Quest 3 hedefi)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İki el desteği — sol ve sağ modeller her kare bağımsız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Görsel doğallık — Likert puanlamasında StaticPose ve Controller'dan üstün olması beklenir</a:t>
            </a:r>
            <a:endParaRPr lang="en-US" sz="14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Sonraki Adımlar — Öncelik Sırası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Quest 3 on-device: BackendType.CPU ile başla, inference süresini ölç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fingerJoints[15] Inspector bağlantısını her iki el için doğrula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ReadbackAndClone() blocking — async test, gerekirse double-buffer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Tam mutfak görevi sahnesi: 33 nesne, doğru BOP ID'ler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Ablasyon: dir_obj_local, approach_speed, bbox özniteliklerini maskele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IRB / etik komite başvurusu → kullanıcı çalışması için onay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Kullanıcı çalışması: ~15–20 katılımcı, Latin kare sırası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Kuantizasyon Float32→Int8 + Quest 3 performansı tekrar ölç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Tez yazımı: yöntem, sonuçlar, tartışma bölümleri</a:t>
            </a:r>
            <a:endParaRPr lang="en-US" sz="14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 8-Haftalık Yol Haritası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dönem için somut sprint planı</a:t>
            </a:r>
            <a:endParaRPr lang="en-US" sz="15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1-4 — Teknik Çekirdek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— Temporal Model Çekirdek: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src/model_temporal.py: input N=8 frame window → output t+Δt joint angles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Lookahead sweep Δ ∈ {0, 33, 67, 100, 133 ms} → 5 model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src/baselines.py: zero_velocity + MANO-PCA-prior ekle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— Karşılaştırma Protokolleri: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5-fold, LOO-O 6 obje, penetration, Accel/jitter, PCK curve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results/eval_protocols/ + 2 figür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3 — Unity Production-Grade: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routine, per-stage latency instrumentation, INT8 quantization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 deploy + 30-min thermal test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4 — Ablation Studies: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representation, encoder fusion, temporal window, grip classifier on/off</a:t>
            </a:r>
            <a:endParaRPr lang="en-US" sz="14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5-8 — User Study + Yazım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5 — User Study Hazırlık: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 onay (paralelde Hafta 1'den başlat!)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design (Fitts-pinch + 5-obje stack), 4 koşul Unity scene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Anket UI (VEQ + NASA-TLX + SUS), pilot 3 katılımcı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6 — User Study Toplama: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n=20 katılımcı, 4-5 günde, ~1 saat/katılımcı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square sıralama, raw data + objective metric logs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7 — Analiz + Yazım Sprint: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+ Wilcoxon + effect size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figürlerin son hali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 Bölüm 1-4 draft (~40 sayfa)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8 — Finalize + Teslim: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5-9 draft, discussion, abstract, refs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video, GitHub release v1.0</a:t>
            </a:r>
            <a:endParaRPr lang="en-US" sz="14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 Tez Bölüm Yapısı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~80-100 sayfa, 9 bölüm</a:t>
            </a:r>
            <a:endParaRPr lang="en-US" sz="15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9-Bölümlü Tez Outline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(8-10 sayfa) — problem, RQ1-3, contributions C1-3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 &amp; Related Work (12-15 s)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2.1 VR hand interaction (Auto Hand, Meta SDK, OVRGrabber)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2.2 Hand pose estimation (HOT3D, UmeTrack, MANO)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2.3 Anticipatory motion (AvatarPoser, EgoPoser, Gamage UIST 2021)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2.4 Grasp synthesis (GrabNet, ContactGen, FastGrasp, ForceGrip — input mismatch açık)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2.5 Gap statement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System Architecture (8-10 s) — input pipeline, model, Unity integration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Dataset &amp; Training (8-10 s) — HOT3D, feature eng., training setup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Offline Evaluation (12-15 s) — metrics, baselines, LOSO/LOO-O, ablations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System Deployment on Quest 3 (8-10 s) — quantization, latency, thermal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User Study (12-15 s) — methodology, conditions, measures, results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Discussion, Limitations, Future Work (5-7 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Conclusion (2 s)</a:t>
            </a:r>
            <a:endParaRPr lang="en-US" sz="14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73152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 Genişletilmiş Kaynakça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atıflar — kategori başına gruplandırılmış</a:t>
            </a:r>
            <a:endParaRPr lang="en-US" sz="15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Foundational Referanslar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HOT3D — Banerjee et al., CVPR 2025 (arXiv 2411.19167)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UmeTrack — Han et al., SIGGRAPH Asia 2022 (arXiv 2211.00099)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 — Romero et al., SIGGRAPH Asia 2017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DexYCB — Chao et al., CVPR 2021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— Fan et al., CVPR 2023 (arXiv 2204.13662)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OakInk — Yang et al., CVPR 2022 (arXiv 2203.15709)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OakInk2 — CVPR 2024 (bimanual extension)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— Taheri et al., ECCV 2020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Feix GRASP Taxonomy — Feix, 2016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VR-Grasp Taxonomy — T&amp;F 2024</a:t>
            </a:r>
            <a:endParaRPr lang="en-US" sz="13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&amp; Comparison Referansları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AvatarPoser — Jiang et al., ECCV 2022 (arXiv 2207.13784)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EgoPoser — Jiang et al., ECCV 2024 (arXiv 2308.06493)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GrabNet — Taheri et al., ECCV 2020 (github.com/otaheri/GrabNet)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ContactGen — Liu et al., ICCV 2023 (arXiv 2310.03740)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ContactOpt — Grady et al., CVPR 2021 (arXiv 2104.07267)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GanHand — Corona et al., CVPR 2020 Oral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ManipNet — Zhang et al., SIGGRAPH 2021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ForceGrip — Han et al., SIGGRAPH 2025 (arXiv 2503.08061)  ★ YENİ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IHOI — Ye et al., CVPR 2022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User Grasp Intentions in VR — Zeng, arXiv 2508.16582 (2025)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Predictable! — Gamage et al., UIST 2021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Ahead in Mind and Motion — PMC6802774, Frontiers Robotics AI 2019</a:t>
            </a:r>
            <a:endParaRPr lang="en-US" sz="13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&amp; Diffusion Referansları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FastGrasp — Wu et al., arXiv 2411.14786 (2024)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G-DexGrasp — Jian et al., CVPR 2025 (arXiv 2503.19457)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Diffusion JHOD — Cao et al., arXiv 2409.04560 (2024)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DiffH2O — Christen et al., arXiv 2403.17827 (2024)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EvolvingGrasp — arXiv 2503.14329 (2025)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Diffangle-Grasp — Yang et al., MDPI 10/8/492 (2025)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 for Robotic Manipulation Survey — arXiv 2504.08438 (2025)</a:t>
            </a:r>
            <a:endParaRPr lang="en-US" sz="13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 Systems, Hardware &amp; Evaluation Referansları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the Future of VR Hand Interactions — Razzaque et al., arXiv 2504.00337 (2025)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Inference Engine (formerly Sentis) — Unity Technologies, 2025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XRBench — Kwon et al., MLSys 2023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AIvaluateXR — arXiv 2502.15761 (2025)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 Hand Tracking Robotic Characterization — Springer VR, 2026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Mixed Reality Compositing on Quest 3 — arXiv 2509.18929 (2025)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SmoothNet — Zeng et al., ECCV 2022 (arXiv 2112.13715)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Pavllo et al., Temporal Convolutions Pose — CVPR 2019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Temporal Transformer — Wen et al., CVPR 2023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SeTHPose — arXiv 2206.00171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 Rotation Continuity — Zhou et al., CVPR 2019 (arXiv 1812.07035)</a:t>
            </a:r>
            <a:endParaRPr lang="en-US" sz="13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Study, Embodiment &amp; HCI Referansları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VEQ — Roth &amp; Latoschik, TVCG 2020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Gonzalez-Franco &amp; Peck Embodiment Q — Frontiers VR 2018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Witmer &amp; Singer Presence Q — 1998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Slater-Usoh-Steed (SUS) Presence — 1995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IPQ (Igroup Presence Questionnaire) — 2001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NASA-TLX — Hart &amp; Staveland 1988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Hand-Retargeted Interaction — arXiv 2404.03899 (RM-ANOVA template)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PinchCatcher — arXiv 2503.05456 (RM-ANOVA + Wilcoxon)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&amp; Tangible Tabletop MR — arXiv 2511.11962 (Friedman + Wilcoxon)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2025 effect size meta-study — dl.acm.org/doi/full/10.1145/3706598.3713671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Fitts' Law VR validation — MTI 2025 (10.3390/mti10050049)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We Feel Present in VR? — arXiv 2504.10162 (CHI 2025)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HOIGaze — Hu et al., CHI 2025 (arXiv 2504.19828)</a:t>
            </a:r>
            <a:endParaRPr lang="en-US" sz="13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Unity Asset &amp; Endüstri Çözüm Referansları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Auto Hand — Earnest Robot, Asset Store 128574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Interaction SDK — Meta XR SDK (developers.meta.com)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IK / VRIK — RootMotion, Asset Store 14290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OVRGrabber — Meta Oculus Integration (legacy)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Inference Engine docs — docs.unity3d.com/Packages/com.unity.ai.inference@2.6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dex-retargeting — github.com/dexsuite/dex-retargeting (MIT)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ManipTrans — CVPR 2025 (bimanual transfer)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hand_tracking_toolkit — github.com/facebookresearch/hand_tracking_toolkit</a:t>
            </a:r>
            <a:endParaRPr lang="en-US" sz="13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Klasik Foundational Referanslar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95528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Optimizer — Loshchilov &amp; Hutter, 2019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Loss — Huber, 1964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Anticipatory Grasp Shaping — Gentilucci et al.; Jeannerod et al.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Sentis (ONNX on-device inference) — Unity Technologies, 2024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12031</Words>
  <Application>Microsoft Macintosh PowerPoint</Application>
  <PresentationFormat>On-screen Show (16:9)</PresentationFormat>
  <Paragraphs>1383</Paragraphs>
  <Slides>120</Slides>
  <Notes>120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120</vt:i4>
      </vt:variant>
    </vt:vector>
  </HeadingPairs>
  <TitlesOfParts>
    <vt:vector size="12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AuraXR — VR Hand Pose Prediction</dc:title>
  <dc:subject>PptxGenJS Presentation</dc:subject>
  <dc:creator>PptxGenJS</dc:creator>
  <cp:lastModifiedBy>Murat Celik</cp:lastModifiedBy>
  <cp:revision>2</cp:revision>
  <dcterms:created xsi:type="dcterms:W3CDTF">2026-06-11T10:31:27Z</dcterms:created>
  <dcterms:modified xsi:type="dcterms:W3CDTF">2026-06-11T10:32:17Z</dcterms:modified>
</cp:coreProperties>
</file>