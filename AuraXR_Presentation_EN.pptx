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14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AuraXR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Object-Aware Hand Pose Prediction for VR Controllers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 ·  Two-Branch MLP  ·  Unity Sentis  ·  Meta Quest 3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Murat Celik — Thesis Presentation | June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0" y="2651760"/>
            <a:ext cx="219456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Vision and Requirements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Thesis Vision and Claim of Contribution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Expected Project Deliverables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Core Requirements (2-3 Models · Unity · User Study)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Problem, Approach, Positioning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Motivation &amp; Problem  |  5. Approach: Pre-Shape Anticipatory Grasp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Honest Positioning (Heuristic Proximity and Framing)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Related Work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Academic Literature (including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ForceGrip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other close works)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Unity Assets &amp; Commercial VR Hand Solutions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System Details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HOT3D  |  10. Data Prep  |  11. Model Architecture  |  12. Training Strategy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Evaluation Results  |  14. Comparison Protocols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ONNX &amp;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Sentis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16. Unity Runtime  |  17. Rendering  |  18. Interaction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Experiments and Comparison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System Comparisons  |  20. Testing Protocol  |  21. User Study Details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 — Status, Risks, Plan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Project Status  |  23. Risks  |  24. Expected Results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8-Week Roadmap  |  26. Thesis Chapter Structure  |  27.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Thesis Vision and Claim of Contribution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Single-sentence vision, three contribution pillars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Single-Sentence Vision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Latency-Aware Anticipatory Hand Pose Synthesis for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Controller-Driven VR Grasping: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System on Meta Quest 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Single-Sentence Claim of Contribution: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active finger tracking in VR (only using controller pose + object semantics),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future-frame hand pose,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Quest 3 with &lt;20 ms total latency,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validated via user study for its contribution to embodiment,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the first end-to-end open-source system.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contribution: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Temporal anticipation ML model (a problem heuristics cannot solve)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System deployment + latency budget analysis (Unity IE, Quest 3, thermals)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n=20 within-subject user study (VEQ + NASA-TLX + objective metrics)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Expected Project Deliverables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have at the end of the thesis — code, model, demo, paper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Thesis-Level Concrete Deliverables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2-3 trained model cores (each with checkpoint + ONNX export):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Two-Branch MLP (existing, our method's baseline)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Anticipation model (new — future-frame prediction, main ML contribution)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generative head (CVAE or 1-step distilled diffusion)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Integrated with Unity Inference Engine, demo running on Quest 3 (.apk)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Latency budget + thermal sustained + quantization Pareto measurement tables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n=20 within-subject user study data + statistical analysis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~80-100 pages of thesis text (method, experiments, user study, discussion)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Reproducibility package: GitHub repo (code + README + figure pipeline)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Demo video (60-90 sec, actual Quest 3 on-device capture)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Core Requirements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Models · Unity Experiment · User Study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— Models: Which Ones and Why?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Existing Two-Branch MLP (BASELINE of our method)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metrics: right 8.77 mm MPJPE, left 9.44 mm MPJPE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thesis: single-frame, reactive baseline (our comparison benchmark)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Temporal Anticipation Model (MAIN ML CONTRIBUTION)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past N=8 frame window of controller +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22 joint angles for t+Δt (Δ ∈ {33, 67, 100, 133 ms})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candidates: causal Transformer (small) or GRU + future-step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baselines cannot do this → source of true ML contribution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(optional, risky): Generative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 or 1-step distilled diffusion (FastGrasp-style)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plausible grasp samples for a single object + single approach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 permits — otherwise goes to Future Work section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— Unity Experiment: What to Measure?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goal: ML inference running on Quest 3 with &lt; 20 ms total latency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measurements (objective, on-device):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latency breakdown (sensor→feature→inference→denorm→IK→render)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Pareto: FP32 vs FP16 vs INT8 dynamic vs INT8 static-calibrated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sustained thermal test (Snapdragon XR2 Gen 2 throttling)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+ cold-start warmup duration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 (controlled on Quest 3):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AuraXR-anticipatory vs AuraXR-reactive vs Quest 3 native hand tracking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occlusion regimes separately: fingers visible / occluded behind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MPJPE comparison using the same HOT3D ground truth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— User Study: Minimum Viable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n=20 (G*Power: medium effect, k=4, ρ=0.5 → power 0.8)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Within-subject, 4×4 Latin square counterbalanced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Approval: University IRB / Ethics Committee — application must be submitted TODAY (takes 4-8 weeks)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Conditions (each participant experiences all in order):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AuraXR-anticipatory — with future-frame prediction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AuraXR-reactive — current frame only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Static neutral grip — fixed neutral pose (worst-case control)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Meta Interaction SDK — industry-standard snap-grab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tools: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Subjective: VEQ (12) + NASA-TLX (6) + SUS-Slater Presence (6) = 24 items/condition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task completion time, error count, jitter (Accel mm/s²), penetration count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duration: ~75 min total (training + 4 conditions + surveys + breaks)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Motivation and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hand invisible in VR?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Hand Visibility in VR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controller hides the user's real hand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provides only 6DoF position/rotation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hand is usually shown as a fixed neutral pose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tracking requires cameras, gloves, or sensors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hardware is expensive, restrictive, and platform-dependent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and presence are significantly reduced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hand animation without cameras or gloves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pre-shapes as it approaches an object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grasp pose based on object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fluid, discontinuity-free transitions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5 ms per frame on Quest 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hand models run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Hasn't This Been Solved Before?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sit at two extremes: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Hardware-based: Leap Motion, finger gloves → high cost, usage restrictions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pose: static hand model → not realistic, not immersive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ground is understudied: predicting hand pose from controller + object info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challenge: no ground-truth pose labels for hands holding a VR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AuraXR's solution: use HOT3D wrist position as a controller proxy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dir_world is computed in world-frame → wrist quaternion not required → zero HOT3D↔Unity mismatch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Approach: Pre-Shape Anticipatory Grasp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Proximity-Based Anticipatory Grasp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The Hand Pre-Shapes Before Contact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 begin curling ~40 cm before touching a mug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pre-shaping reflex is driven by perceived object type and approach angle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models this biological behavior with a neural network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Interaction Phases: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 (&gt; 40 cm): Neutral pose, model does not run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Pre-shape (10–40 cm): Hand opens/shapes to match the approaching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     (&lt; 10 cm): Fingers curl to final grasp pose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(touching): Pose locks, object is held in hand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↔ Unity Bridge — Coordinate Alignment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has wrist position, no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Unity: has controller position, no wrist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dir_world = (obj_pos − wrist_pos) / dist — same computation in both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position ≈ wrist position when holding a Quest 3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quaternion not required for world-frame orientation → zero system mismatch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conversion (Unity L-hand → HOT3D R-hand system):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pos_hot3d  = (x, y, −z)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quat_hot3d = (qx, qy, −qz, qw)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Honest Positioning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of the heuristic baseline and reframing the story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Baseline Proximity — Current Numbers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comparison results (results/baselines_table.md):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MLP:        8.77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distance_blend:     9.68 mm — difference is only 9.4%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category_mean:      9.73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(k=5):          9.90 mm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MLP:        9.44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distance_blend:     9.37 mm — heuristic WINS by 0.7%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1.37M param MLP does not statistically separate from 30 lines of 'lerp' formula.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bad — it shows the problem structure is close to closed form.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Correcting the Framing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FRAMING (untenable):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developed a new hand pose ML model that beats the baseline'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reaction: 'Heuristic is so close, do we really need an ML model?'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FRAMING (tenable):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did three things heuristics cannot do:'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Future-frame anticipation — heuristics have no temporal context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(2) End-to-end XR system — Quest 3 deployment + latency + thermals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(3) Measured user experience — n=20 within-subject empirical proof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'Does AI actually control the application?'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answer: YES. The ML output produces the pose shown to the user every frame.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refinement is standard — Quest, ContactGen, Vision Pro all use it.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falls under the 'fully AI-controlled' category — not an issue.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Academic Literature — Related Work (Detailed)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paper: citation, content, relationship to our system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Banerjee et al., CVPR 2025 (Highlight)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Banerjee, P. et al., 'HOT3D: Hand and Object Tracking in 3D from Egocentric Multi-View Videos', CVPR 2025 (top 13.5%)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github.com/facebookresearch/hot3d  ·  arXiv: 2411.19167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unique frames, 19 subjects, 833 min multi-view recordings, 3,832 clips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objects (BOP 6DoF poses), two parallel hand formats: MANO + UmeTrack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Aria + Quest 3 captures; we use only Quest 3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baseline: UmeTrack single-view 13.4 mm, two-view 9.5 mm MKPE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our TRAINING DATA (right 1.02M frames, left 877K frames actively used)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drop-in: directly comparable with facebookresearch/hand_tracking_toolkit MKPE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UmeTrack — Han et al., SIGGRAPH Asia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Han, S. et al., 'UmeTrack: Unified Multi-view End-to-end Hand Tracking for VR', SIGGRAPH Asia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github.com/facebookresearch/UmeTrack  ·  arXiv: 2211.00099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Reality Labs' production VR hand-tracking model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RGB → 20 joint angles + 6-DoF wrist root = 26 DoF total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CNN + UmeTrack kinematic skeleton format (per-user mesh)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hand annotation FORMAT is UmeTrack (22-vec output = 20 active + 2 placeholders)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UmeTrack requires multi-camera RGB, AuraXR requires zero cameras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fact complementary: UmeTrack when visible, AuraXR under occlusion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3's native hand tracking is a UmeTrack derivative — system comparison benchmark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MANO — Romero et al., SIGGRAPH Asia 2017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Romero, J., Tzionas, D., Black, M.J., 'Embodied Hands: Modeling and Capturing Hands and Bodies Together', SIGGRAPH Asia 2017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github.com/otaheri/MANO  ·  Model: mano.is.tue.mpg.de (requires registration)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hand model: 778 vertices + 1538 faces mesh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PCA shape (β) + 45 axis-angle pose (15 joints × 3) = 55 parameters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Blend Skinning (LBS), fully differentiable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standard — almost every grasp/hand paper uses MANO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BASELINE: MANO PCA per-class mean (mandatory, low effort, definitely include)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bridge: HOT3D UmeTrack ↔ MANO mapping exists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output (UmeTrack) → MANO retargeting possible (via forward FK)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AvatarPoser — Jiang et al., ECCV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Jiang, J. et al., 'AvatarPoser: Articulated Full-Body Pose Tracking from Sparse Motion Sensing', ECCV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github.com/eth-siplab/AvatarPoser (MIT, active in 2025-02)  ·  arXiv: 2207.13784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head + two hand 6-DoF poses (sparse signal like Quest controllers)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Transformer encoder + IK refinement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22 SMPL body joint rotations (full body)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RELATIVE — sparse VR sensor → joint angle philosophy is identical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BASELINE: can be adapted to wrist → finger variant (1-2 weeks effort)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thesis review, reviewer will ask: 'Why didn't you compare with AvatarPoser?'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is well-organized: PyTorch, documented, MIT license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EgoPoser — Jiang et al., ECCV 2024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Jiang, J. et al., 'EgoPoser: Robust Real-Time Egocentric Pose Estimation from Sparse and Intermittent Observations Everywhere', ECCV 2024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github.com/eth-siplab/EgoPoser  ·  arXiv: 2308.06493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to AvatarPoser — handling intermittent sparse signals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motion decomposition, real-time inference, head-mounted target platform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pose, whereas AuraXR is hand pose — complementary problems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source for cases where Quest controller goes out of hand-tracking range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sparse-input baseline (marginal value if AvatarPoser is already there)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section: positioning EgoPoser + AuraXR = 'complete sparse-input avatar reconstruction'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GrabNet — Taheri et al., ECCV 2020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Taheri, O., Ghorbani, N., Black, M.J., Tzionas, D., 'GRAB: A Dataset of Whole-Body Human Grasping of Objects', ECCV 2020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github.com/otaheri/GrabNet (269★, NOASSERTION)  ·  Dataset: github.com/otaheri/GRAB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dataset: 10 subjects, 51 objects, whole-body grasp motion capture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CoarseNet (cVAE) → MANO params; RefineNet contact refinement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Object Basis Point Set (BPS) — 4096 sampled points → 1024 distances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MANO pose params + 3D root translation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manifold (GRAB and HOT3D are both whole-body human grasp)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ABLATION: GrabNet-BPS (oracle) vs GrabNet-bbox (fair) — compare 2 columns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 (1-2 weeks, codebase is mature)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ContactGen — Liu et al., ICCV 2023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Liu, S. et al., 'ContactGen: Generative Contact Modeling for Grasp Generation', ICCV 2023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github.com/stevenlsw/contactgen  ·  arXiv: 2310.03740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point cloud (2048 points) → 3-modal contact: contact_map + part_map + direction_map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CVAE → contact representation → MANO fit via optimization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diversity and plausibility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mismatch: requires point cloud (AuraXR only bbox+class)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ORACLE UPPER BOUND — 'how much does more information help'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fair peer baseline; honest framing: 'consumes strictly more information'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high (slow optimization, environment setup)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ContactOpt — Grady et al., CVPR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Grady, P., Tang, C., Twigg, C.D., Vo, M., Brahmbhatt, S., Kemp, C.C., 'ContactOpt: Optimizing Contact to Improve Grasps', CVPR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github.com/facebookresearch/ContactOpt (MIT)  ·  arXiv: 2104.07267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mesh + object mesh → DeepContact MLP predicts target contact maps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optimization moves hand to satisfy predicted contacts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MANO pose output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COMPETITOR — complementary refinement step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column: 'AuraXR + ContactOpt' — shows pose compatibility with standard refinement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requires a mesh (HOT3D object meshes can be used at runtime)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low-medium (as an add-on); MIT license advantage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FastGrasp — Wu et al., arXiv 2024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Wu, X. et al., 'FastGrasp: Efficient Grasp Synthesis with Diffusion', arXiv 2411.14786 (2024)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github.com/wuxiaofei01/FastGrasp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point cloud → PointNet encode → latent diffusion in MANO-AE space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generation (no intermediate contact-map)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target: 1-step distilled diffusion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'one-step diffusion' approach for Model 3 (optional)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 (point cloud); not a peer baseline — oracle/related work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(late 2024) so reproducibility is unclear; 1 maintainer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G-DexGrasp — Jian et al., CVPR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Jian, Y. et al., 'G-DexGrasp: Generalizable Dexterous Grasping Synthesis via Part-Aware Prior Retrieval', CVPR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2503.19457  ·  Public code release not yet announced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mesh + language task instruction → retrieve grasp prior → generate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Dexterous robot hand outputs (Shadow / Allegro, not MANO)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Part-aware prior retrieval — similar to our 'retrieval-augmented' suggestion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SOTA reference — used in related work to show 'state-of-the-art is here'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hand → MANO retargeting makes comparison meaningless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only in thesis; NO reproduction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GanHand — Corona et al., CVPR 2020 (Oral)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Corona, E., Pumarola, A., Alenya, G., Moreno-Noguer, F., Rogez, G., 'GanHand: Predicting Human Grasp Affordances in Multi-Object Scenes', CVPR 2020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github.com/enriccorona/GanHand  ·  YCB-Affordance dataset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→ grasp type from 33-class taxonomy → MANO refinement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training, refinement loop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Oral, highly cited — foundational citation in related work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 (RGB image); not a peer baseline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medium-high (old PyTorch, hard to install)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reviewer asks: 'Why didn't you compare with GanHand?' — remind that it is image-conditioned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ManipNet — Zhang et al., SIGGRAPH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Zhang, H. et al., 'ManipNet: Neural Manipulation Synthesis with a Hand-Object Spatial Representation', SIGGRAPH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github.com/cghezhang/ManipNet (CC-BY-NC)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wrist + object 6-DoF trajectory + SDF-based hand-object spatial representation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— predicts future finger motion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finger motion sequence over time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the temporal concept — inspiration for Model 2 (anticipation)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mismatch: requires object 6-DoF TRAJECTORY; AuraXR only requires instantaneous bbox+class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Unity research code; hard to port to PyTorch — skip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citation only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ForceGrip — Han et al., SIGGRAPH 2025  ★ NEW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Han, D., Kim, B., Lee, R., Kim, K., Hwang, H., Kang, H., 'ForceGrip: Reference-Free Curriculum Learning for Realistic Grip Force Control in VR Hand Manipulation', SIGGRAPH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page: han-dongheun.github.io/ForceGrip  ·  arXiv: 2503.08061  ·  License: CC BY-NC-SA 4.0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RL — does NOT require motion capture data (data-free)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curriculum: Finger Positioning → Intention Adaptation → Dynamic Stabilization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controller trigger input (grip force intention) + wrist movement + randomized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physically-plausible force-aware hand pose (contact force + finger torque)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reward function + sim-based training (PhysX/Bullet), zero mocap dependency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SIGGRAPH 2025 COMPETITOR — controller trigger → realistic finger pose, same framing!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ForceGrip is RL+sim, AuraXR is supervised+HOT3D mocap; force domain vs pre-shape pose domain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position in Related Work §2: complementary problem (force vs anticipation)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opportunity: combining AuraXR pre-shape (approach) + ForceGrip stabilization (contact)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IHOI — Ye et al., CVPR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Ye, Y., Gupta, A., Tulsiani, S., 'What's in your hands? 3D Reconstruction of Generic Objects in Hands', CVPR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github.com/JudyYe/ihoi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of hand-holding-object → implicit 3D object surface + MANO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ego-centric video frames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Image-conditioned (RGB) — input mismatch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in related work for 'image-based reconstruction' category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reproducing — not a peer baseline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User Grasp Intentions in VR — Zeng,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Zeng, Y., 'Predicting User Grasp Intentions in Virtual Reality', M2 IASD Thesis, Université PSL, arXiv 2508.16582 (2025)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release: none (Master's thesis)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Quest hand-tracking (palm + fingertip positions, 60 FPS) — not controller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grasp TIMING (s) + grasp LOCATION (cm) + 5 fingertip vectors @ grasp moment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RF/XGBoost/KNN classification + LSTM/MJT regression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custom 810-trial dataset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SIBLING — same framing for grasp prediction in VR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Zeng = when/where (timing+location), AuraXR = how (joint angles)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Complementary; can be stacked sequentially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Work: positioning as 'closest sibling, complementary problem' framing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Predictable! — Gamage et al., UIST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Gamage, N.M. et al., 'So Predictable! Continuous 3D Hand Trajectory Prediction in Virtual Reality', UIST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DL: dl.acm.org/doi/fullHtml/10.1145/3472749.3474753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prediction of hand trajectory in VR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'Gaze leads grasping actions by ~0.726 seconds'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approaching from 1m, eyes fixate on the object ~700+ ms before grasp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foundation for AuraXR's 'pre-shape' concept — motivation §1 reference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anticipation target Δt=133 ms being within the gaze lead time (~700 ms) is a strong argument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thesis §1 motivation paragraph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HOIGaze — Hu et al., CHI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Hu, Z. et al., 'HOIGaze: Gaze Estimation During Hand-Object Interactions in XR Exploiting Eye-Hand-Head Coordination', CHI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2504.19828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estimation from eye-hand-head coordination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devices with gaze tracking like Quest Pro / Vision Pro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temporal structure of eye-hand coordination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reference — multimodal extension for Quest Pro / next gen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gaze prior could improve hand pose prediction (preliminary evidence)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now (Quest 3 lacks gaze tracking); position in thesis §8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the Future of VR Hand Interactions — Razzaque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Razzaque, S. et al., 'Shaping the Future of VR Hand Interactions: Lessons Learned from Modern Methods', arXiv 2504.00337 (2025)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modern VR hand interaction techniques (April 2025)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modern VR hand interaction techniques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contact modeling vs hard colliders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freezing strategies, tier-based simulation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refinement penetration prevention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positioning our method within the literature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that describe our IKRefinement.cs module in literature language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citation in Discussion §8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Temporal Transformer — Wen et al., CVPR 2023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Wen, Y., Pan, H., Yang, L., Pan, J., Komura, T., Wang, W., 'Hierarchical Temporal Transformer for 3D Hand Pose Estimation and Action Recognition from Egocentric RGB Videos', CVPR 2023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openaccess.thecvf.com/content/CVPR2023/...HTT...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receptive fields: short window for pose (T=4), long for action (T=64)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3D hand pose + action recognition from egocentric RGB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transformer, hierarchical attention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inspiration for Model 2 (Temporal Anticipation)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variant + RoPE position encoding → enables length generalization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 is sufficient for pose (no action context, pose-only)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SmoothNet — Zeng et al., ECCV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Zeng, A. et al., 'SmoothNet: A Plug-and-Play Network for Refining Human Poses in Videos', ECCV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project page: ailingzeng.site/smoothnet  ·  arXiv: 2112.13715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network for temporal pose smoothing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formula source for Accel metric (mm/s²):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= mean over joints of |a_pred − a_GT|  (a_t = p_{t+1} − 2p_t + p_{t-1})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Pose: 5-15 mm/s² is 'good' range (for video pose)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jitter/smoothness metric (mandatory metric)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AuraXR's 5-layer smoothing system (EMA + delta clamp)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Accel as objective metric in user study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6D Rotation Continuity — Zhou et al., CVPR 2019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citation: Zhou, Y., Barnes, C., Lu, J., Yang, J., Li, H., 'On the Continuity of Rotation Representations in Neural Networks', CVPR 2019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1812.07035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rotation representations for neural networks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+ Euler antipodal discontinuity issue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6D representation (first two columns) → Gram-Schmidt recovers 3rd column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become standard for rotation regression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rotation head uses 6D representation (model.py)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decode: Gram-Schmidt → 3×3 matrix → quaternion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citation to be referenced in Method §3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Datasets — DexYCB · ARCTIC · OakInk · GRAB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(Chao et al., CVPR 2021):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582K frames, 10 subjects, 20 objects (YCB), 8 view RGB-D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+ 6DoF object pose, canonical pairing for cross-dataset transfer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(Fan et al., CVPR 2023):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Articulated objects, 8 train / 1 val / 1 test subject, 9 views (1 ego + 8 allo)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Distingushes 'use' vs 'grasp' intent — not just grasp but also articulation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 / OakInk2 (Yang et al., CVPR 2022 / 2024):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OakInk2: bimanual, 627 tasks, 100 objects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heavily overlap with HOT3D (mug, bottle, can, spoon, plate, cup)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(Taheri et al., ECCV 2020):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subjects, 51 objects, whole-body grasp; GrabNet training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cross-dataset transfer targets: HOT3D → DexYCB zero-shot + fine-tune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Unity Asset &amp; Commercial VR Hand Solutions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AuraXR's real competitors — production-grade products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Auto Hand — Earnest Robot (Asset Store)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assetstore.unity.com/packages/tools/game-toolkits/auto-hand-vr-physics-interaction-128574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Earnest Robot  ·  Price: ~$45  ·  2000+ reviews, active for 5 years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finger placement: fingers shape based on object geometry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grab: rigid body + joint constraint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library: predefined 'PoseScriptableObject' per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— pose library + IK + collision sensing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Hand: requires manual pose definition per object (new object = new hand-crafted job)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generalizes from 33 categories in HOT3D, category assignment is sufficient for a new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industry-standard competitor — evaluate as CONDITION (d) in user study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Interaction SDK — Meta (Quest)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Meta XR Interaction SDK (Unity Package)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Meta  ·  Price: Free  ·  Quest production-grade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Snap-based grab: hand snaps to object 'GrabPose' anchors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+ controller dual input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/ pinch / grab interaction primitives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distance grab (pulling object from afar)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SDK: snap-to-anchor, not natural — hand teleports from user position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continuous animation, persistent pre-shaping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(d) in user study — comparison with industry gold standard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will want to see: 'What is your difference from Meta SDK?'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IK / VRIK — RootMotion (Asset Store)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assetstore.unity.com/packages/tools/animation/final-ik-14290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RootMotion  ·  Price: ~$90  ·  Industry standard for 10 years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+ hand IK (FABRIK + analytical solvers)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VRIK: HMD + 2 hand controllers → full body avatar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FingerRig: per-finger IK (target-driven, no ML)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 grasp poses; interpolation based on object contact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VRIK: pure analytical hand IK — manual scripting of finger animations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learned pre-shape from HOT3D, no manual pose authoring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 is possible: combination of AuraXR finger angles + VRIK arm IK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'classical IK alternative' in the thesis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OVRGrabber &amp; Quest Hand Tracking — Meta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OVRGrabber: Meta's legacy snap-grab component (Oculus Integration)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Hand Tracking: camera-based 26 DoF UmeTrack-based solution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~75 ms (warm), ~320 ms (cold/predictive init)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tracking via Quest 3 4-camera system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UmeTrack-derived production model — multi-view CNN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drops if fingers are not visible (occluded)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confidence score for each finger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hand tracking: good when fingers are visible, collapses under occlusion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controller-based, occlusion-agnostic (no line-of-sight required)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comparison: report occlusion regimes separately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is not a replacement, but a COMPLEMENT — optimal to use together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Inference Engine (formerly Sentis) — Unity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docs.unity3d.com/Packages/com.unity.ai.inference@2.6/manual/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change: 'Unity Sentis' (≤2024) → 'Unity Inference Engine' (2025+)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com.unity.ai.inference  ·  Namespace: Unity.InferenceEngine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ONNX runtime — CPU + GPU compute shader backends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Quest 3 integration supported by Meta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2.6: MultiHeadAttention, LayerNorm, Conv1/2/3D, GRU/LSTM, Gather/Scatter supported ✓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.sentis converter (Meta Tools): cold-start optimization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issue: stuttering in the first few seconds — warmup routine required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AuraXR: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inference runtime — AuraXRInferenceManager uses Unity.InferenceEngine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for quantization (FP16, INT8) runs here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make ReadbackAndClone() GPU→CPU blocking async (Issue C3)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HOT3D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Reality Labs · CVPR 2025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HOT3D?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and Object Tracking 3D — published by Meta Research at CVPR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egocentric (first-person) 3D hand + object tracking dataset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sequences, ~1.5M frames, 19 subjects, 33 household objects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 devices: Meta Quest 3 (with depth sensor) + Project Aria (lightweight glasses)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uses only Quest 3 recordings: same device as the target platform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 datasets are insufficient: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2D-only labels / too few objects / lab settings / no hand-object contact labels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real environment, egocentric, 3D, hand-object contact annotated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Data Modalities &amp; UmeTrack Skeleton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Per 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Skeleton (22 Joints)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video (VRS format, stereo)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maps (Quest 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(accelerometer + gyroscope)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hand pose: MANO + UmeTrack formats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object pose: position + 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confidence score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parameters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fingers × 4 joints = 20 active joints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20–21: placeholder (always 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Thumb: CMC-flex, abduction, MCP, DIP (0–3)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abduction, MCP, PIP, DIP (4–7)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abduction, MCP, PIP, DIP (8–11)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+ Pinky: same structure (12–19)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radians, normalized by model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33 Objects &amp; Grasp Categories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Grip (17 objects) — Mug, bottle, can, dumbbell, carton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fingers wrap around the object, strong enclosure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Grip (3 objects) — Spoon, spatula, marker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fingertip contact, extended finger configuration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Grip (7 objects) — Plate, phone, keyboard, remote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palm, fingers spread, object rests in palm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Grip (6 objects) — Mouse, puzzle, small holder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+ index finger pinch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4 grip categories + bbox instead of 33 object IDs → generalizes to unseen objects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Data Preparation &amp; Feature Engineering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build_dataset.py · hot3d_utils.py · grip_categories.py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Steps (build_dataset.py)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Locate sequence directories from HOT3D ZIP files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Shuffle with seed=42 → 85% train / 15% val split (sequence-based partitioning)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Frame-based split: consecutive frames are extremely similar → inflates validation score (leakage)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Per-frame filters: discard if dist &gt; 40 cm or hand_confidence &lt; 0.70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15-dimensional feature vector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Label: 'grip' if dist &lt; 10 cm, otherwise 'pre_shape'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Normalize: z-score using statistics computed from train set only (no validation leakage)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Oversample grip frames 10× — raw data contains only 5-8% grip → balance the dataset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before oversampling: duplicate copies do not distort global statistics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Save in HDF5 format (gzip compression, random-access, PyTorch DataLoader compatible)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15-Dimensional Feature Vector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dir_world [3] — Unit vector from wrist to object, in HOT3D world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obj_pos − wrist_pos;  dir_world = delta / ||delta||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wrist rotation → no system mismatch issues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dir_obj_local [3] — Direction vector rotated into the object's local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whether the hand approaches from the front, back, or side of the object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[1] — Euclidean distance from wrist to object in meters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interaction phase: pre-shape vs grip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approach_speed [1] — dot(wrist_velocity, dir_world)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moving towards object; fast reach behaves differently from slow placement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grip_onehot [4] — Power / Precision / Palmar /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half-extents [3] — Object half-sizes [x, y, z] in meters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bottle ≠ small bottle: same grip category but different finger span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Statistics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hand: 877,985 frames total  →  train 738,466  ·  val 139,519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hand: 1,021,853 frames total  →  train 868,806  ·  val 153,047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filtering: ~1.5 million raw frames (HOT3D Quest 3 recordings)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contains only 5–8% grip frames → model overfits to pre-shape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oversampling → roughly equal class distribution in train set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Targets: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1: 22 UME joint angles (radians, z-score normalized)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2: 6D wrist rotation — palm orientation relative to approach direction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Model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Two-Branch MLP · ~1.37M parameters · src/model.py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Two-Branch MLP — Overall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Branch (input 8 dims): dir_world + dir_obj_local + dist + approach_speed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FC(8→512) + LayerNorm + ReLU → Dropout(0.125) → FC(512→256)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Branch (input 7 dims): grip_onehot + bbox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FC(7→256) + LayerNorm + ReLU → FC(256→256)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cat(512) → FC(512→512)×3 + ReLU + Dropout (0.25 / 0.125 / 0.0625)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Finger Heads (thumb–pinky): FC(512→128) → Dropout → FC(128→4) → cat(20) + zeros(2)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Rotation Head: FC(512→64) → ReLU → Dropout → FC(64→6)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(training only): FC(512→32) → FC(32→4) — not exported to ONNX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Design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encoders — spatial and object info must not mix early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fusion: model learns shortcuts like 'mug = fist', ignoring actual geometry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heads — thumb and pinky move very differently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layer: optimizing one finger can degrade another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rotation representation (Zhou et al. 2019) — no quaternion antipodal discontinuity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column recovered via Gram-Schmidt; model predicts 6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— does not saturate flexion angle range [0, 2.0 rad]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Tanh saturation, wide extension/flexion ranges can be learned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(training only) — keeps the trunk grip-category-aware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forgetting object category when distance signal dominates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Input/Output Specification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'spatial_input':  [batch, 8]  — normalized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'object_input':   [batch, 7]  — normalized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'joint_angles':   [batch, 22] — normalized; denormalized with model_meta.json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'wrist_rot_6d':   [batch, 6]  — normalized; denorm → Gram-Schmidt → quaternion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Unity: batch = 1 (separate inference call for each hand)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model_meta.json contents: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feature_mean/std (15 values), target_mean/std (22 values), wrist_rot_mean/std (6 values)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denorm: angle[i] = output[i] × tgtStd[i] + tgtMean[i]  (radians)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joints: 0–19 (20 joints); joints 20–21 are always 0.0 in HOT3D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Training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Compound Loss · CosineAnnealing · src/train.py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&amp; Hardware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— lr=5e-3, weight_decay=3e-4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 Linear warmup (200 epochs) + CosineAnnealingWarmRestarts (T₀=4000, T_mult=2)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T₀=4000: periodic warming restarts escape local minima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131,072 — entire training set fits in RAM → epoch = 1 gradient step, zero disk I/O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patience=4,000 (allows at least 1 full cosine cycle)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50,000 (typically stops around ~20,000 epochs)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Apple M2 Max — auto-select CUDA &gt; MPS &gt; CPU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left hands trained sequentially — each job gets full GPU capacity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dir_world/dir_obj_local ±0.02, dist ±10%, bbox ±5%, speed +0.05 noise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Loss Function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total_loss = compound_loss + 0.3 × wrist_rot_loss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Angle Loss — weighted Huber (β=0.5) over joints 0–19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frames get 2× weight: incorrect pose at contact is immediately jarring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loss: penalizes outliers (tracking glitches) less severely than MSE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Range Penalty — penalizes joint angles outside [0, 2.0 rad]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+ range penalty achieves anatomical limits without Tanh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DIP–PIP Coupling — DIP ≈ 0.67 × PIP tendon anatomy constraint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and PIP joints are physically connected by the same tendon in human hands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Grip Classifier Loss — auxiliary CE loss, keeps trunk features grip-aware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Wrist Rotation Loss — 0.3 × MSE (intentionally low weight: finger joint MAE prioritized)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Evaluation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· evaluate_onnx.py · simulate.py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— Numerical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MAE (all joints, in degrees):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hand:  Overall 12.5°  —  Pre-shape 12.4°  —  Grip 18.8°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hand: Overall 12.4°  —  Pre-shape 12.3°  —  Grip 15.1°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 — MAE by grip category: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12.2°  |  Precision 13.7°  |  Palmar 12.8°  |  Pinch 11.8°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was &lt; 5° → 12–15° range pointed to a capacity bottleneck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hidden_dim 256→512, finger_hidden 64→128 → current metrics with this model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MAE does not guarantee visual naturalness in VR — subjective evaluation is mandatory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Tools &amp; Simulation Test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— Per-joint MAE (degrees), per-phase and per-grip-category breakdown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evaluate_onnx.py — ONNX Runtime output vs PyTorch: verifies max diff &lt; 1e-5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simulate.py — Synthetic approach test (critical check before Unity):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30 → 20 → 10 → 5 → 2 cm steps, static object (e.g. Bottle)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PIP joint angles increase monotonically. Any sudden jumps?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open hand at 40 cm → defined grasp at 10 cm → full fist at 2 cm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test_onnx_live.py — Live ONNX output for 40→2 cm approach per grip category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verification: final checkpoint before deploying to Unity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Comparison Protocols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· LOO-O · Cross-dataset · Penetration · Jitter · PCK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— Generalization Protocols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(LOSO):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cross-subject evaluation out of 13 training subjects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mean±std MPJPE + worst-subject MPJPE + 95% CI bootstrap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Worst-subject long-tail is the number reviewers check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Leave-One-Object-Out (LOO-O):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1-2 objects per Feix grasp category (total 4-6 objects)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'Did the model learn geometry or just memorized a lookup table?'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degradation is &lt;30%: evidence of real generalization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Cross-Scenario (HOT3D scene tag):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Leave-One-Scenario-Out: kitchen / office / living room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AuraXR's natural advantage: no vision input → scenario agnostic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14.2 — Cross-Dataset Transfer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benchmark: HOT3D → DexYCB / ARCTIC / OakInk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Zero-shot — evaluate HOT3D-trained model without modification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k-shot fine-tune — k=1, 5, 25, 100 samples per target subject/object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Full fine-tune — training with train split of target dataset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k vs MPJPE curve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UmeTrack ↔ MANO mapping already exists natively in HOT3D package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/ ARCTIC / OakInk → MANO native; simple mapping is sufficient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dex-retargeting library is for robots; not needed here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asymmetry: HOT3D→DexYCB zero-shot shows 1.4-1.9× MPJPE inflation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 — Physical and Temporal Metrics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depth (mm): maximum distance of penetrating vertex → object surface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volume (cm³): voxelized hand-object intersection volume at 0.5 cm resolution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displacement: PyBullet 2s gravity test, object center displacement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trimesh + Open3D SDF queries — 1-day implementation effort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/ Smoothness: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(mm/s²): mean over joints of |a_pred − a_GT|, where a_t = p_{t+1} − 2p_t + p_{t-1}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&lt;15 mm/s² (SmoothNet 'good' reference value)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curve: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MPJPE plot for first 30 frames (approximately 333 ms @ 90 Hz)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temporal model, this is a LEGITIMATE NOVELTY — underreported in literature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 — Joint Metrics and PCK Curve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 Curve (Percentage of Correct Keypoints):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PCK at thresholds 5/10/15/20/30/50 mm (show curve, not just single AUC)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threshold PCK (&lt;10 mm) — critical range for VR rendering quality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 FreiHAND / DexYCB / HO-3D papers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Geodesic Rotation Error: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arccos((tr(R_pred^T R_gt) − 1) / 2), reported in degrees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error is biased by gimbal lock — geodesic is standard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median (outliers during grip transitions distort the mean)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is typically worst due to anatomical complexity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 MPJPE: most critical sub-metric for visual quality in VR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ONNX Export &amp; Unity Sentis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export_onnx.py · opset 14 · model_meta.json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Export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ONNX? Unity Sentis runs ONNX models on device GPU using compute shaders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steps: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best_model.pt + model_meta.json, set to model.eval()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Dummy inputs: spatial[1,8] + object[1,7]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torch.onnx.export — opset 14, do_constant_folding=True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bitwise compatibility with ONNX Runtime: max diff &lt; 1e-5 required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Copy model_meta.json → onnx/ folder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auraxr_right.onnx · auraxr_left.onnx · model_meta_right.json · model_meta_left.json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Sentis — Loading &amp; Execution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copy .onnx and model_meta_*.json files under Assets/AuraXR/Models/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Inspector: assign rightModelAsset, leftModelAsset, rightMetaJson, leftMetaJson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Start(): ModelLoader.Load() → new Worker(model, BackendType.GPUCompute)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GPUCompute: runs on the Snapdragon XR2 Gen 2 GPU (Quest 3)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call every N=2 frames: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Tensor&lt;float&gt;(TensorShape(1,8), spatialInput)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worker.SetInput → Schedule() → PeekOutput → ReadbackAndClone()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ReadbackAndClone() GPU→CPU transfer can block the render thread on Quest 3 (Issue 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BackendType.GPUCompute is not verified on Snapdragon → keep CPU fallback ready (Issue C2)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 Unity Runtime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AuraXRFeatureAssembler · AuraXRInferenceManager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Assembler (AuraXRFeatureAssembler.cs)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LateUpdate() every frame: reads OVR controller position/rotation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nearest InteractableObject from ProximityDetector (0.3 m radius)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96-dimensional raw frame (dims 32–95: visual embedding placeholder, zeroed)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frame to a 16-element ring buffer (for future temporal models)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transformation (Unity → HOT3D frame):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pos:  f[2] = −pos.z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quat: f[6] = −rot.z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conversion is missing, dir_world points incorrectly → wrong pose generated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frameSampleRate=2 → ~36 FPS effective frequency (matches training data ~30 FPS)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Manager — 12-Step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1–3. Controller + object → HOT3D frame → compute dir_world and dist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dir_obj_local = Inverse(obj_quat_HOT3D) × dir_world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approach_speed = dot(wrist_velocity_HOT3D, dir_world)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grip_onehot + bbox: lookup via BopToGrip / BopToBbox tables (33/33 objects verified)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15-dim feature: [dir_world, dir_obj_local, dist, speed, grip, bbox]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Normalize: feat[i] = (feat[i] − mean[i]) / std[i]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Send to ONNX: spatial[0:8] + object[8:14] → Sentis worker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Denormalize 22 UME angles → apply EMA smoothing (α=0.35)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Map UME[22] → MANO[15]: {0,2,3, 5,6,7, 9,10,11, 13,14,15, 17,18,19}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wrist_rot_6d → Gram-Schmidt → quaternion → predictedRot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Placement &amp; Fallback Logic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every N=2 frames; hand placement is updated every frame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virtualHand.pos = ctrl.pos + predictedRot × handPivotOffset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handPivotOffset = (0.1685, 0, 0.0351) — wrist offset from Quest 3 tracking origin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(Gram-Schmidt decoding):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qCanonical = LookRotation(dirWorldUnity) — canonical frame aligned to approach direction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predictedRot = qCanonical × q_rel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no object in range, model doesn't run, controller rotation is used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debugBypassModel=true: sets all MANO joints to 0.5 rad → validates rig skeleton wiring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 Hand Rendering &amp; Pose Smoothing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· HandSkeletonAnchor · 5 Layers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(execution order 500):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MANO[15] angles to 15 bone transforms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Per-joint sign multiplier (±1): handles rig-specific bone coordinate orientations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Flexion angle constraint: clamp to [−15°, 130°]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override: blend to closed-fist pose during grasping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HandSkeletonAnchor (execution order 1000):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HandRigController — reads newly applied joint angles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kinematics: bone angles → 3D world space positions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HandProximityVisibility: hand mesh fades in/out based on distance to nearest object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5-Layer Pose Smoothing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Threshold Transition Blend (30–40 cm)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clamp((40−dist)/10, 0,1) → lerp(neutral_pose, model_output, α)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Input EMA (α_in = 0.3–0.5)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controller tracking noise and rapid nearest-object switching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Inference every N frames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 → Unity lerp fills intermediate frames (~36 FPS effective)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Output EMA (α=0.35)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smooth[t] = 0.35 × output[t] + 0.65 × smooth[t−1] (applied to all 22 joint angles)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Delta Clamp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on maximum joint angle change per frame — prevents sudden snapping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 Interaction and Task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 · VirtualHandGrab · SessionDataLogger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Interaction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InteractableObject.cs — Each object is tagged with its HOT3D BOP category ID (1–33)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BopToGrip + BopToBbox lookup tables run on this ID (33/33 verified and corrected)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ProximityDetector.cs — Finds nearest object within 0.3 m radius every frame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featureAssembler.nearestObject and categoryId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VirtualHandGrab.cs: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trigger &gt; threshold → grab object (physics off, object parented to hand)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release: physics re-enabled, object thrown matching hand velocity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IsGrabbing = true → HandRigController overrides and blends to closed fist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SnapZone.cs — Snaps objects to predefined locations (kitchen task delivery points)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System &amp; Session Logging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ScenarioKitchenTask.cs — Kitchen task sequence: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[object] → Carry to [target] → Place in SnapZone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task completion conditions; reports to TaskScoreUI via events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TaskScoreUI.cs — VR world-space canvas: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 (✓), timer, 1–3 star score rating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SessionDataLogger.cs — Flushes CSV data every 100 frames: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left/right_grip · left/right_trigger · wrist_pos ×2 · obj_category ×2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Application.persistentDataPath/Logs/ (Quest 3: Android internal storage)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100-frame flush interval minimizes data loss in case of crash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 System Comparisons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native · Latency budget · Quantization Pareto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19.1 — Quest 3 Native Hand Tracking vs AuraXR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paper: 'Robotic Characterization of Markerless Hand-Tracking on Meta Quest Pro and Quest 3' (Queen's, IEEE VR 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manipulator mannequin hand → known trajectory → ground truth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Setup: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reports for two regimes: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(a) Fingers fully visible — Quest native advantage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(b) Fingers occluded behind object or outside camera FOV — Quest native fails, AuraXR works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Ground Truth: HOT3D multi-view annotations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MPJPE, fingertip MPJPE, Accel, tracking dropout rate (Quest confidence = low)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 (Critical):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is not a replacement for Quest native hand tracking, but a COMPLEMENT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excels under occlusion, Quest native excels when fingers are fully visible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usage is hybrid: switch to AuraXR when native tracking confidence drops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 — Latency Budget Breakdown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11.1 ms/frame total budget for Quest 3 at 90 Hz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instrumentation (Stopwatch in AuraXRInferenceManager):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 → Feature assembly (OVR controller read + transform calculation)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→ Input tensor (normalization + tensor allocation)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Inference execution (Unity Inference Engine ONNX execution)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denormalization (joint angle reconstruction)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IK refinement (penetration checks and corrections)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Pose → Unity skinning (bone transform application)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Render submission (sending frame to display queue)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stacked horizontal bar charts per device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(CPU) / Quest 3 (GPUCompute) / desktop fallback comparison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over 5000 frames; min, median, p99, and max latencies reported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XRBench (MLSys 2023)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 — Quantization &amp; Thermal Sustained Operation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Pareto (using src/quantize_onnx.py):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4-row table: FP32 vs FP16 vs INT8 (dynamic) vs INT8 (static-calibrated)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MPJPE error, latency, model size (MB), peak memory usage (MB)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MPJPE-vs-latency Pareto frontier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INT8 dynamic is 1.5-3× faster than FP16 with &lt;%2 MPJPE inflation (with proper calibration)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dataset: 100-500 representative sequences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Sustained Operation (30-min stress test):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inference latency, GPU clock speed, SoC skin temperature vs elapsed time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thermal API: OVRManager.systemDisplayFrequency + persistent thermal log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Does AuraXR drop below 90 Hz before OS thermal throttling triggers?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AIvaluateXR (arXiv 2502.15761) — LLM/ML benchmarking on XR devices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finding: ~40% GPU clock reduction within 90s of sustained heavy AR workload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 Testing Protocol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 — Python → Editor → Quest 3 → User Study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&amp; 2 — Python Tests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Python Offline Evaluation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HOT3D val split, no smoothing filters — raw model performance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per-joint MAE (target &lt; 5°), MPJPE (target &lt; 20 mm)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error balance: separate MAE reported for Bottle and Cup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Python Simulation Test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path: 40→30→20→10→5→2 cm distance steps from a static object (Bottle)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are plotted at each step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open hand at 40 cm → defined pre-grasp at 10 cm → full fist at 2 cm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Non-monotonic transitions and erratic joint snaps are caught here before importing to Unity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&amp; 4 — Unity Editor &amp; Quest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Unity Editor Test (No Headset Required)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Unity Play mode with simulated controller trajectories after ONNX export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hand pose change correctly when approaching Bottle?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inference time below 5 ms in the editor console?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EMA + delta clamp smoothing working properly?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pose transition smoothly when switching target objects from Bottle to Cup?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Quest 3 On-Device Test (⏳ Pending)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 records every frame → off-line Python analytical script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BackendType.GPUCompute work correctly on Snapdragon XR2 Gen 2?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joint angle distributions within anatomically expected ranges during actual use?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conditions: VirtualHands vs Controller vs StaticPose (Latin square order)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Study Protocol —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~15–20 subjects (aiming for medium effect size, 80% statistical power)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/ Ethics Committee approval: mandatory before starting data collection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Metrics: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naturalness: 5-point Likert scale ('Did the hand movement look natural?')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time: automatically logged by SessionDataLogger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workload: NASA-TLX survey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Conditions (within-subject, Latin square counterbalancing):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VirtualHands — AuraXR predicted hand animations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Standard controller visual model, no hand mesh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StaticPose — Fixed neutral hand pose, no dynamic animations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Low offline numerical MAE does not guarantee subjective visual naturalness in VR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 User Study — Design Details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· within-subject · 4 conditions · 75 min session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 — Study Design &amp; Sample Size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Within-subject (essential to control for user variance)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convention in VR hand interaction literature (CHI / IEEE VR 2020-2025)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n=20 — Power Analysis (using G*Power):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family → RM-ANOVA within factors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effect size f=0.25, correlation ρ=0.5, significance α=0.05, power=0.8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≈ 18-20 participants is sufficient (confirmed by CHI 2025 meta-studies)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Counterbalancing: 4×4 Latin square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conditions × 5 sequences = n=20 fit perfectly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Williams square counterbalancing is used for odd conditions or strict first-order carryover balance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tasks for ecological validity: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Fitts-pinch-and-place task (reproducible, standard HCI benchmark)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5-object tower stack (ecological task, natural grasping)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 — The Four Conditions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(a) — AuraXR-anticipatory: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 with t+Δt future-frame prediction and 5-layer smoothing enabled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primary proposed solution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(b) — AuraXR-reactive: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Two-Branch MLP, no future prediction (current frame input only)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effect of future anticipation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(c) — Static neutral grip: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model, fixed neutral pose (worst-case control baseline)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if dynamic hand pose synthesis provides any utility over static meshes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(d) — Meta Interaction SDK: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snap-to-anchor grab system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AuraXR directly against state-of-the-art commercial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 — Measurement Tools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Measures (administered after each condition):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VEQ (Virtual Embodiment Questionnaire) — 12 items, 3 factors (ownership, agency, change)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— 6 subscales (mental, physical, temporal, performance, effort, frustration)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SUS-Slater Presence Questionnaire — 6 items (classic rapid presence measure)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 items per condition × 4 conditions = 96 survey items (under user fatigue limits)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Measures (automatically logged to CSV):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 (s) — Fitts' ID/MT for pointing tasks, raw duration for grasping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object drops, missed grasps, target positioning errors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count: visual hand-object mesh intersection events per trial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(acceleration RMS mm/s²): runtime joint position measurement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(sensor state to display photon): controller log timestamp markers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Regrasping count: count of IsGrabbing status transitions per grab attempt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21.4 — Statistical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Normality checks: Shapiro-Wilk test for each condition metric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2a. Normally distributed → Repeated Measures ANOVA + Tukey HSD or Bonferroni post-hoc tests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2b. Non-normal (ordinal Likert data) → Friedman test + Wilcoxon signed-rank post-hoc + Bonferroni correction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reporting (mandatory for modern HCI standards):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RM-ANOVA: partial eta-squared (η_p²)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Friedman test: Kendall's coefficient of concordance (W)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Wilcoxon signed-rank: r = Z / √N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reporting p-values alone is no longer sufficient for acceptance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templates from literature: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Hand-Retargeted Interaction (arXiv 2404.03899) — standard RM-ANOVA format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PinchCatcher (arXiv 2503.05456) — RM-ANOVA and Wilcoxon combination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MR (arXiv 2511.11962) — Friedman test and Wilcoxon post-hoc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 Project Status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June 2026 — Pipeline Stages A–K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Stages 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HOT3D dataset downloaded (data/quest3/)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build_dataset.py — dataset.h5 created (left 877K, right 1.02M frames)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Two-branch MLP architecture designed (src/model.py)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Right and left hand models trained (checkpoints/ — best_model.pt)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evaluate.py executed (MAE: right 12.4° / left 12.5°)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ONNX export complete (opset 14, bitwise validation &lt; 1e-5 passed)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AuraXRFeatureAssembler — frame-level verified and running in Unity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AuraXRInferenceManager — inference running, pivot offsets adjusted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HandRigController + HandSkeletonAnchor — rendering running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InteractableObject + VirtualHandGrab + TaskScoreUI — partially complete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BopToGrip + BopToBbox: all 33 objects corrected (June 2, 2026)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&amp; Pending Stages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Unity FK setup — bone rotation axes are still in fine-tuning phase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HandSkeletonAnchor pivot tuning — requires separate validation for each hand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K — Quest 3 on-device test: BackendType.GPUCompute not yet verified (C1)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ReadbackAndClone() blocking — asynchronous version under investigation (C3)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Verify fingerJoints[15] Inspector wiring for both hands (U1)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handPivotOffset measured from single session — might vary across users (U2)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Model quantization Float32→Int8/Float16 (P3 — future work)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User study IRB application not yet submitted (P4)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Ablation study — feature masking experiments planned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 Risks &amp; Mitigation Strategies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Medium · Out of Thesis Scope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Risks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MAE target missed (&lt; 5° target, currently ~12°)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increased hidden_dim 256→512 (current metrics with this model)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ablation studies (which features contribute least?) + more data?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BackendType.GPUCompute may fail on Quest 3 on-device Sentis runtime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evaluate using BackendType.CPU; check if &lt; 5 ms target is met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ReadbackAndClone() may block the rendering thread on Quest 3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test async tensor readback or implement double-buffering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Grip frames are scarce → grip phase not fully learned by MLP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10× oversampling + 2× Huber loss weight (grip MAE is still relatively high)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Risks &amp; Out-of-Scope Items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object switches rapidly (no hysteresis): hand poses jitter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switch target object only if new object is significantly closer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when no object is nearby: unnecessary inference + incorrect pose risks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skip model, lerp to neutral pose (implemented)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impossible poses: range penalty is insufficient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hard angle clamp in HandRigController [−15°, 130°] (implemented)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Thesis Scope (Future Work):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Hand-object interpenetration: requires complete physics / IK solver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sensor integration: visual embedding placeholder ready (dims 32–95)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Float32→Int8/Float16 — Quest 3 execution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 Expected Results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Natural hand pre-shaping — fingers curl naturally ~40 cm away from the object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Object-specific grasping: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 → Power  |  Spoon → Precision  |  Plate → Palmar  |  Mouse →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Fluid transitions — EMA (α=0.35) eliminates frame-to-frame joint jitter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Real-time performance — ~1.37M param MLP achieves &lt; 5 ms/frame inference on Quest 3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Two-hand support — left and right hand models run independently every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Visual naturalness — expected to outperform StaticPose and Controller in Likert scores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Priority Order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 3 on-device: start with BackendType.CPU, measure inference duration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fingerJoints[15] Inspector connections for both hands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ReadbackAndClone() blocking — implement async if needed, double-buffer if critical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complete kitchen task scene: all 33 objects with correct BOP IDs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Ablation study: mask dir_obj_local, approach_speed, bbox individually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Submit IRB / ethics committee application for user study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Run user study: ~15–20 participants, Latin square order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Quantize model (Float32→Int8) and re-measure Quest 3 performance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Thesis writing: method, results, discussion chapters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 8-Week 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sprint schedule</a:t>
            </a:r>
            <a:endParaRPr lang="en-US" sz="15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1-4 — Technical Core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Temporal Model Core: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src/model_temporal.py: input N=8 frame window → output t+Δt joint angles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sweep Δ ∈ {0, 33, 67, 100, 133 ms} → 5 models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src/baselines.py: add zero_velocity + competitor baseline methods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Comparison Protocols: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5-fold, LOO-O 6 objects, penetration, Accel/jitter, PCK curves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results/eval_protocols/ + 2 figures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Unity Production-Grade: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routine, per-stage latency instrumentation, INT8 quantization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deploy + 30-min sustained thermal test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Ablation Studies: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representation, encoder fusion, temporal window size, grip classifier on/off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5-8 — User Study &amp; Thesis Writing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User Study Preparation: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ethics approval (initiate immediately in Week 1!)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design (Fitts-pinch + 5-object stack), 4-condition Unity scene setup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UI (VEQ + NASA-TLX + SUS), pilot testing with 3 participants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User Study Execution: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participants, run in 4-5 days, ~1 hour per subject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square counterbalancing, raw log data + objective metric aggregation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Analysis &amp; Thesis Writing Sprint: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+ Wilcoxon + effect size calculation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 of all charts and figures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Chapters 1-4 (~40 pages)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— Finalize &amp; Submission: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Chapters 5-9, discussion, abstract, references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GitHub release v1.0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 Thesis Chapter Structure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~80-100 pages, 9 chapters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9-Chapter Thesis Outline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(8-10 pages) — problem, RQ1-3, contributions C1-3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 (12-15 pages)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2.1 VR hand interaction (Auto Hand, Meta SDK, OVRGrabber)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2.2 Hand pose estimation (HOT3D, UmeTrack, MANO)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2.3 Anticipatory motion (AvatarPoser, EgoPoser, Gamage UIST 2021)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2.4 Grasp synthesis (GrabNet, ContactGen, FastGrasp, ForceGrip)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2.5 Gap statement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 (8-10 pages) — input pipeline, model, Unity integration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&amp; Training (8-10 pages) — HOT3D, feature engineering, training setup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Offline Evaluation (12-15 pages) — metrics, baselines, LOSO/LOO-O, ablations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Deployment on Quest 3 (8-10 pages) — quantization, latency, thermals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User Study (12-15 pages) — methodology, conditions, measures,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Discussion, Limitations, Future Work (5-7 pages)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 (2 pages)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 References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references grouped by category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Foundational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— Banerjee et al., CVPR 2025 (arXiv:2411.19167)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— Han et al., SIGGRAPH Asia 2022 (arXiv:2211.00099)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— Romero et al., SIGGRAPH Asia 2017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— Chao et al., CVPR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— Fan et al., CVPR 2023 (arXiv:2204.13662)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 — Yang et al., CVPR 2022 (arXiv:2203.15709)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OakInk2 — CVPR 2024 (bimanual extension)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— Taheri et al., ECCV 2020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Feix GRASP Taxonomy — Feix, 2016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VR-Grasp Taxonomy — T&amp;F 2024</a:t>
            </a:r>
            <a:endParaRPr lang="en-US" sz="13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&amp; Comparison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AvatarPoser — Jiang et al., ECCV 2022 (arXiv:2207.13784)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EgoPoser — Jiang et al., ECCV 2024 (arXiv:2308.06493)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GrabNet — Taheri et al., ECCV 2020 (github.com/otaheri/GrabNet)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ContactGen — Liu et al., ICCV 2023 (arXiv:2310.03740)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ContactOpt — Grady et al., CVPR 2021 (arXiv:2104.07267)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GanHand — Corona et al., CVPR 2020 Oral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ManipNet — Zhang et al., SIGGRAPH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ForceGrip — Han et al., SIGGRAPH 2025 (arXiv:2503.08061) ★ NEW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IHOI — Ye et al., CVPR 2022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User Grasp Intentions in VR — Zeng, arXiv:2508.16582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Predictable! — Gamage et al., UIST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Ahead in Mind and Motion — PMC6802774, Frontiers Robotics AI 2019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&amp; Diffusion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FastGrasp — Wu et al., arXiv:2411.14786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G-DexGrasp — Jian et al., CVPR 2025 (arXiv:2503.19457)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Diffusion JHOD — Cao et al., arXiv:2409.04560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DiffH2O — Christen et al., arXiv:2403.17827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EvolvingGrasp — arXiv:2503.14329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Diffangle-Grasp — Yang et al., MDPI 10/8/492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for Robotic Manipulation Survey — arXiv:2504.08438 (2025)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 Systems, Hardware &amp; Evaluation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the Future of VR Hand Interactions — Razzaque et al., arXiv:2504.00337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Inference Engine (formerly Sentis) — Unity Technologies, 2025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XRBench — Kwon et al., MLSys 2023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AIvaluateXR — arXiv:2502.15761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Hand Tracking Robotic Characterization — Springer VR, 2026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Mixed Reality Compositing on Quest 3 — arXiv:2509.18929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SmoothNet — Zeng et al., ECCV 2022 (arXiv:2112.13715)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Pavllo et al., Temporal Convolutions Pose — CVPR 2019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Temporal Transformer — Wen et al., CVPR 2023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SeTHPose — arXiv:2206.00171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Rotation Continuity — Zhou et al., CVPR 2019 (arXiv:1812.07035)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Study, Embodiment &amp; HCI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VEQ — Roth &amp; Latoschik, TVCG 2020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Gonzalez-Franco &amp; Peck Embodiment Q — Frontiers VR 2018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Witmer &amp; Singer Presence Q — 1998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Slater-Usoh-Steed (SUS) Presence — 1995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IPQ (Igroup Presence Questionnaire) — 2001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— Hart &amp; Staveland 1988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Hand-Retargeted Interaction — arXiv:2404.03899 (RM-ANOVA template)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PinchCatcher — arXiv:2503.05456 (RM-ANOVA + Wilcoxon)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&amp; Tangible Tabletop MR — arXiv:2511.11962 (Friedman + Wilcoxon)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2025 effect size meta-study — dl.acm.org/doi/full/10.1145/3706598.3713671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Fitts' Law VR validation — MTI 2025 (10.3390/mti10050049)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We Feel Present in VR? — arXiv:2504.10162 (CHI 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HOIGaze — Hu et al., CHI 2025 (arXiv:2504.19828)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Asset &amp; Industry Solution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Auto Hand — Earnest Robot, Asset Store 128574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Interaction SDK — Meta XR SDK (developers.meta.com)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IK / VRIK — RootMotion, Asset Store 14290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OVRGrabber — Meta Oculus Integration (legacy)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Inference Engine docs — docs.unity3d.com/Packages/com.unity.ai.inference@2.6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dex-retargeting — github.com/dexsuite/dex-retargeting (MIT)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ManipTrans — CVPR 2025 (bimanual transfer)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hand_tracking_toolkit — github.com/facebookresearch/hand_tracking_toolkit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Foundational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— Loshchilov &amp; Hutter, 2019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— Huber, 1964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Grasp Shaping — Gentilucci et al.; Jeannerod et 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 on-device inference) — Unity Technologies, 2024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12489</Words>
  <Application>Microsoft Macintosh PowerPoint</Application>
  <PresentationFormat>On-screen Show (16:9)</PresentationFormat>
  <Paragraphs>1367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AuraXR — VR Hand Pose Prediction</dc:title>
  <dc:subject>PptxGenJS Presentation</dc:subject>
  <dc:creator>PptxGenJS</dc:creator>
  <cp:lastModifiedBy>Murat Celik</cp:lastModifiedBy>
  <cp:revision>2</cp:revision>
  <dcterms:created xsi:type="dcterms:W3CDTF">2026-06-11T11:59:03Z</dcterms:created>
  <dcterms:modified xsi:type="dcterms:W3CDTF">2026-06-11T12:02:20Z</dcterms:modified>
</cp:coreProperties>
</file>